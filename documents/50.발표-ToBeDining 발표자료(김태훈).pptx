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4" r:id="rId15"/>
    <p:sldId id="277" r:id="rId16"/>
    <p:sldId id="271" r:id="rId17"/>
    <p:sldId id="276" r:id="rId18"/>
    <p:sldId id="275" r:id="rId19"/>
    <p:sldId id="272" r:id="rId20"/>
    <p:sldId id="273" r:id="rId21"/>
  </p:sldIdLst>
  <p:sldSz cx="14630400" cy="8229600"/>
  <p:notesSz cx="8229600" cy="14630400"/>
  <p:embeddedFontLst>
    <p:embeddedFont>
      <p:font typeface="나눔스퀘어 네오 ExtraBold" panose="020B0600000101010101" charset="-127"/>
      <p:bold r:id="rId23"/>
    </p:embeddedFont>
    <p:embeddedFont>
      <p:font typeface="Libre Baskerville" panose="02000000000000000000" pitchFamily="2" charset="0"/>
      <p:regular r:id="rId24"/>
      <p:bold r:id="rId25"/>
      <p:italic r:id="rId26"/>
    </p:embeddedFont>
    <p:embeddedFont>
      <p:font typeface="Noto Sans" panose="020B0502040504020204" pitchFamily="34" charset="0"/>
      <p:regular r:id="rId27"/>
      <p:bold r:id="rId28"/>
      <p:italic r:id="rId29"/>
      <p:boldItalic r:id="rId30"/>
    </p:embeddedFont>
    <p:embeddedFont>
      <p:font typeface="Open Sans" panose="020B0606030504020204" pitchFamily="34" charset="0"/>
      <p:regular r:id="rId31"/>
      <p:bold r:id="rId3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B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3380" autoAdjust="0"/>
  </p:normalViewPr>
  <p:slideViewPr>
    <p:cSldViewPr snapToGrid="0" snapToObjects="1">
      <p:cViewPr varScale="1">
        <p:scale>
          <a:sx n="54" d="100"/>
          <a:sy n="54" d="100"/>
        </p:scale>
        <p:origin x="111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5383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안녕하십니까</a:t>
            </a:r>
            <a:r>
              <a:rPr lang="en-US" altLang="ko-KR" dirty="0"/>
              <a:t>!</a:t>
            </a:r>
          </a:p>
          <a:p>
            <a:r>
              <a:rPr lang="ko-KR" altLang="en-US" dirty="0"/>
              <a:t>맛집 정보 플랫폼 </a:t>
            </a:r>
            <a:r>
              <a:rPr lang="en-US" altLang="ko-KR" dirty="0" err="1"/>
              <a:t>ToBeDining</a:t>
            </a:r>
            <a:r>
              <a:rPr lang="en-US" altLang="ko-KR" dirty="0"/>
              <a:t> </a:t>
            </a:r>
            <a:r>
              <a:rPr lang="ko-KR" altLang="en-US" dirty="0"/>
              <a:t>프로젝트를 구현한 한성대학교 모바일소프트웨어 트랙 </a:t>
            </a:r>
            <a:r>
              <a:rPr lang="en-US" altLang="ko-KR" dirty="0"/>
              <a:t>4</a:t>
            </a:r>
            <a:r>
              <a:rPr lang="ko-KR" altLang="en-US" dirty="0"/>
              <a:t>학년 김태훈입니다</a:t>
            </a:r>
            <a:r>
              <a:rPr lang="en-US" altLang="ko-KR" dirty="0"/>
              <a:t>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</a:t>
            </a:r>
            <a:r>
              <a:rPr lang="en-US" altLang="ko-KR" dirty="0"/>
              <a:t>, </a:t>
            </a:r>
            <a:r>
              <a:rPr lang="ko-KR" altLang="en-US" dirty="0"/>
              <a:t>발표 개요에 대해서 말씀드리겠습니다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저의 발표는 프로젝트 개요</a:t>
            </a:r>
            <a:r>
              <a:rPr lang="en-US" altLang="ko-KR" dirty="0"/>
              <a:t>, </a:t>
            </a:r>
            <a:r>
              <a:rPr lang="ko-KR" altLang="en-US" dirty="0"/>
              <a:t>프로젝트 상세</a:t>
            </a:r>
            <a:r>
              <a:rPr lang="en-US" altLang="ko-KR" dirty="0"/>
              <a:t>, </a:t>
            </a:r>
            <a:r>
              <a:rPr lang="ko-KR" altLang="en-US" dirty="0"/>
              <a:t>프로젝트 시연</a:t>
            </a:r>
            <a:r>
              <a:rPr lang="en-US" altLang="ko-KR" dirty="0"/>
              <a:t> </a:t>
            </a:r>
            <a:r>
              <a:rPr lang="ko-KR" altLang="en-US" dirty="0"/>
              <a:t>이후 마무리 순으로 진행하겠습니다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</a:t>
            </a:r>
            <a:r>
              <a:rPr lang="en-US" altLang="ko-KR" dirty="0"/>
              <a:t>, </a:t>
            </a:r>
            <a:r>
              <a:rPr lang="ko-KR" altLang="en-US" dirty="0"/>
              <a:t>프로젝트 개요에 대해서 말씀드리겠습니다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개발 동기와 의도에 대해서 </a:t>
            </a:r>
            <a:r>
              <a:rPr lang="ko-KR" altLang="en-US" dirty="0" err="1"/>
              <a:t>말씀드릴건데요</a:t>
            </a:r>
            <a:r>
              <a:rPr lang="en-US" altLang="ko-KR" dirty="0"/>
              <a:t>! </a:t>
            </a:r>
            <a:r>
              <a:rPr lang="ko-KR" altLang="en-US" dirty="0"/>
              <a:t>저는 이전에 진행하였던 프로젝트에서 </a:t>
            </a:r>
            <a:r>
              <a:rPr lang="ko-KR" altLang="en-US" dirty="0" err="1"/>
              <a:t>카카오맵</a:t>
            </a:r>
            <a:r>
              <a:rPr lang="ko-KR" altLang="en-US" dirty="0"/>
              <a:t> </a:t>
            </a:r>
            <a:r>
              <a:rPr lang="en-US" altLang="ko-KR" dirty="0" err="1"/>
              <a:t>api</a:t>
            </a:r>
            <a:r>
              <a:rPr lang="ko-KR" altLang="en-US" dirty="0"/>
              <a:t>를 사용해보고 싶었으나 기한이 모자라 시도하지 </a:t>
            </a:r>
            <a:r>
              <a:rPr lang="ko-KR" altLang="en-US" dirty="0" err="1"/>
              <a:t>못했었던</a:t>
            </a:r>
            <a:r>
              <a:rPr lang="ko-KR" altLang="en-US" dirty="0"/>
              <a:t> 경험이 있었습니다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제가 평소에도 맛집을 즐겨 찾는다는 점과 이를 연결하면 모두에게 친숙한 훌륭한 프로젝트가 나올 수 있다 생각하여 맛집 정보 플랫폼을 기획하게 되었습니다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2800"/>
              </a:lnSpc>
              <a:buNone/>
            </a:pPr>
            <a:r>
              <a:rPr lang="en-US" altLang="ko-KR" sz="120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다이닝코드는</a:t>
            </a:r>
            <a:r>
              <a:rPr lang="en-US" altLang="ko-KR" sz="12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ko-KR" sz="120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맛집</a:t>
            </a:r>
            <a:r>
              <a:rPr lang="en-US" altLang="ko-KR" sz="12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ko-KR" sz="120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정보</a:t>
            </a:r>
            <a:r>
              <a:rPr lang="en-US" altLang="ko-KR" sz="12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ko-KR" sz="120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검색</a:t>
            </a:r>
            <a:r>
              <a:rPr lang="en-US" altLang="ko-KR" sz="12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및 </a:t>
            </a:r>
            <a:r>
              <a:rPr lang="en-US" altLang="ko-KR" sz="120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추천</a:t>
            </a:r>
            <a:r>
              <a:rPr lang="en-US" altLang="ko-KR" sz="12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ko-KR" sz="120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서비스를</a:t>
            </a:r>
            <a:r>
              <a:rPr lang="en-US" altLang="ko-KR" sz="12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ko-KR" sz="120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제공하는</a:t>
            </a:r>
            <a:r>
              <a:rPr lang="en-US" altLang="ko-KR" sz="12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ko-KR" sz="120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데모</a:t>
            </a:r>
            <a:r>
              <a:rPr lang="en-US" altLang="ko-KR" sz="12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ko-KR" sz="120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웹사이트입니다</a:t>
            </a:r>
            <a:r>
              <a:rPr lang="en-US" altLang="ko-KR" sz="12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</a:p>
          <a:p>
            <a:pPr marL="0" indent="0">
              <a:lnSpc>
                <a:spcPts val="2800"/>
              </a:lnSpc>
              <a:buNone/>
            </a:pPr>
            <a:r>
              <a:rPr lang="en-US" altLang="ko-KR" sz="120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사용자</a:t>
            </a:r>
            <a:r>
              <a:rPr lang="en-US" altLang="ko-KR" sz="12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ko-KR" sz="120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리뷰</a:t>
            </a:r>
            <a:r>
              <a:rPr lang="en-US" altLang="ko-KR" sz="12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altLang="ko-KR" sz="120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평점</a:t>
            </a:r>
            <a:r>
              <a:rPr lang="en-US" altLang="ko-KR" sz="12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altLang="ko-KR" sz="120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맛집</a:t>
            </a:r>
            <a:r>
              <a:rPr lang="en-US" altLang="ko-KR" sz="12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ko-KR" sz="120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랭킹</a:t>
            </a:r>
            <a:r>
              <a:rPr lang="en-US" altLang="ko-KR" sz="12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ko-KR" sz="120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등의</a:t>
            </a:r>
            <a:r>
              <a:rPr lang="en-US" altLang="ko-KR" sz="12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ko-KR" sz="120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기능을</a:t>
            </a:r>
            <a:r>
              <a:rPr lang="en-US" altLang="ko-KR" sz="12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ko-KR" sz="120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통해</a:t>
            </a:r>
            <a:r>
              <a:rPr lang="en-US" altLang="ko-KR" sz="12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ko-KR" sz="120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사용자에게</a:t>
            </a:r>
            <a:r>
              <a:rPr lang="en-US" altLang="ko-KR" sz="12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ko-KR" sz="120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신뢰성</a:t>
            </a:r>
            <a:r>
              <a:rPr lang="en-US" altLang="ko-KR" sz="12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ko-KR" sz="120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있는</a:t>
            </a:r>
            <a:r>
              <a:rPr lang="en-US" altLang="ko-KR" sz="12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ko-KR" sz="120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맛집</a:t>
            </a:r>
            <a:r>
              <a:rPr lang="en-US" altLang="ko-KR" sz="12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ko-KR" sz="120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정보를</a:t>
            </a:r>
            <a:r>
              <a:rPr lang="en-US" altLang="ko-KR" sz="12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ko-KR" sz="120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제공합니다</a:t>
            </a:r>
            <a:r>
              <a:rPr lang="en-US" altLang="ko-KR" sz="12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</a:p>
          <a:p>
            <a:pPr marL="0" indent="0">
              <a:lnSpc>
                <a:spcPts val="2800"/>
              </a:lnSpc>
              <a:buNone/>
            </a:pPr>
            <a:r>
              <a:rPr lang="en-US" altLang="ko-KR" sz="120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하지만</a:t>
            </a:r>
            <a:r>
              <a:rPr lang="en-US" altLang="ko-KR" sz="12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altLang="ko-KR" sz="120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로그인</a:t>
            </a:r>
            <a:r>
              <a:rPr lang="en-US" altLang="ko-KR" sz="12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ko-KR" sz="120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기능의</a:t>
            </a:r>
            <a:r>
              <a:rPr lang="en-US" altLang="ko-KR" sz="12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ko-KR" sz="120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부제로</a:t>
            </a:r>
            <a:r>
              <a:rPr lang="en-US" altLang="ko-KR" sz="12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ko-KR" sz="120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인한</a:t>
            </a:r>
            <a:r>
              <a:rPr lang="en-US" altLang="ko-KR" sz="12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ko-KR" sz="120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개인</a:t>
            </a:r>
            <a:r>
              <a:rPr lang="en-US" altLang="ko-KR" sz="12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ko-KR" sz="120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데이터</a:t>
            </a:r>
            <a:r>
              <a:rPr lang="en-US" altLang="ko-KR" sz="12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ko-KR" sz="120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관리와</a:t>
            </a:r>
            <a:r>
              <a:rPr lang="en-US" altLang="ko-KR" sz="12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ko-KR" sz="120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불편하게</a:t>
            </a:r>
            <a:r>
              <a:rPr lang="en-US" altLang="ko-KR" sz="12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ko-KR" sz="120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느껴지는</a:t>
            </a:r>
            <a:r>
              <a:rPr lang="en-US" altLang="ko-KR" sz="12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ko-KR" sz="120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UI가</a:t>
            </a:r>
            <a:r>
              <a:rPr lang="en-US" altLang="ko-KR" sz="12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ko-KR" sz="120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있어</a:t>
            </a:r>
            <a:r>
              <a:rPr lang="en-US" altLang="ko-KR" sz="12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ko-KR" sz="120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저만의</a:t>
            </a:r>
            <a:r>
              <a:rPr lang="en-US" altLang="ko-KR" sz="12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ko-KR" sz="120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방식으로</a:t>
            </a:r>
            <a:r>
              <a:rPr lang="en-US" altLang="ko-KR" sz="12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ko-KR" sz="120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재구성해</a:t>
            </a:r>
            <a:r>
              <a:rPr lang="en-US" altLang="ko-KR" sz="12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ko-KR" sz="120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보았습니다</a:t>
            </a:r>
            <a:r>
              <a:rPr lang="en-US" altLang="ko-KR" sz="12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US" altLang="ko-KR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기존 프로젝트에서 아쉽다고 느껴졌던 로그인 기능을 통하여 로그인 후의 다양한 역할을 만들고 이와 연결된 리뷰</a:t>
            </a:r>
            <a:r>
              <a:rPr lang="en-US" altLang="ko-KR" dirty="0"/>
              <a:t>, </a:t>
            </a:r>
            <a:r>
              <a:rPr lang="ko-KR" altLang="en-US" dirty="0"/>
              <a:t>예약</a:t>
            </a:r>
            <a:r>
              <a:rPr lang="en-US" altLang="ko-KR" dirty="0"/>
              <a:t>, </a:t>
            </a:r>
            <a:r>
              <a:rPr lang="ko-KR" altLang="en-US" dirty="0"/>
              <a:t>관리 기능 등을 추가하였습니다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다음으로는 개발 일정입니다</a:t>
            </a:r>
            <a:r>
              <a:rPr lang="en-US" altLang="ko-KR" dirty="0"/>
              <a:t>!</a:t>
            </a:r>
          </a:p>
          <a:p>
            <a:r>
              <a:rPr lang="ko-KR" altLang="en-US" dirty="0"/>
              <a:t>먼저 </a:t>
            </a:r>
            <a:r>
              <a:rPr lang="en-US" altLang="ko-KR" dirty="0"/>
              <a:t>1</a:t>
            </a:r>
            <a:r>
              <a:rPr lang="ko-KR" altLang="en-US" dirty="0"/>
              <a:t>월 </a:t>
            </a:r>
            <a:r>
              <a:rPr lang="en-US" altLang="ko-KR" dirty="0"/>
              <a:t>6</a:t>
            </a:r>
            <a:r>
              <a:rPr lang="ko-KR" altLang="en-US" dirty="0"/>
              <a:t>일까지는 프로젝트의 전체적인 방향을 잡으며 기획을 거쳤습니다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이후</a:t>
            </a:r>
            <a:r>
              <a:rPr lang="en-US" altLang="ko-KR" dirty="0"/>
              <a:t>, 16</a:t>
            </a:r>
            <a:r>
              <a:rPr lang="ko-KR" altLang="en-US" dirty="0"/>
              <a:t>일까지는 테이블을 설계하고 세세한 폼에 대한 구상을 </a:t>
            </a:r>
            <a:r>
              <a:rPr lang="ko-KR" altLang="en-US" dirty="0" err="1"/>
              <a:t>이어나갔고</a:t>
            </a:r>
            <a:endParaRPr lang="en-US" altLang="ko-KR" dirty="0"/>
          </a:p>
          <a:p>
            <a:r>
              <a:rPr lang="ko-KR" altLang="en-US" dirty="0"/>
              <a:t>그 이후부터 </a:t>
            </a:r>
            <a:r>
              <a:rPr lang="en-US" altLang="ko-KR" dirty="0"/>
              <a:t>2</a:t>
            </a:r>
            <a:r>
              <a:rPr lang="ko-KR" altLang="en-US" dirty="0"/>
              <a:t>월 </a:t>
            </a:r>
            <a:r>
              <a:rPr lang="en-US" altLang="ko-KR" dirty="0"/>
              <a:t>20</a:t>
            </a:r>
            <a:r>
              <a:rPr lang="ko-KR" altLang="en-US" dirty="0"/>
              <a:t>일까지는 본격적인 개발에 착수한 뒤</a:t>
            </a:r>
            <a:endParaRPr lang="en-US" altLang="ko-KR" dirty="0"/>
          </a:p>
          <a:p>
            <a:r>
              <a:rPr lang="ko-KR" altLang="en-US" dirty="0"/>
              <a:t>근 일주일동안 테스트 과정을 거쳤습니다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개발 환경은 다음과 같이 사용하였으며 특히 카카오 맵 </a:t>
            </a:r>
            <a:r>
              <a:rPr lang="en-US" altLang="ko-KR" dirty="0"/>
              <a:t>Api</a:t>
            </a:r>
            <a:r>
              <a:rPr lang="ko-KR" altLang="en-US" dirty="0" err="1"/>
              <a:t>를</a:t>
            </a:r>
            <a:r>
              <a:rPr lang="ko-KR" altLang="en-US" dirty="0"/>
              <a:t> 사용하였습니다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이제 본격적으로 저의 프로젝트에서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저의 프로젝트는 총 </a:t>
            </a:r>
            <a:r>
              <a:rPr lang="en-US" altLang="ko-KR" dirty="0"/>
              <a:t>35</a:t>
            </a:r>
            <a:r>
              <a:rPr lang="ko-KR" altLang="en-US" dirty="0"/>
              <a:t>개의 폼으로 구성된 맛집 소개 웹페이지 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제 프로그램의 구조는 다음과 같이 크게 </a:t>
            </a:r>
            <a:r>
              <a:rPr lang="en-US" altLang="ko-KR" dirty="0"/>
              <a:t>4</a:t>
            </a:r>
            <a:r>
              <a:rPr lang="ko-KR" altLang="en-US" dirty="0"/>
              <a:t>개의 역할로 구분되어 있습니다</a:t>
            </a:r>
            <a:r>
              <a:rPr lang="en-US" altLang="ko-KR" dirty="0"/>
              <a:t>.</a:t>
            </a:r>
          </a:p>
          <a:p>
            <a:r>
              <a:rPr lang="en-US" dirty="0"/>
              <a:t>Guest</a:t>
            </a:r>
            <a:r>
              <a:rPr lang="ko-KR" altLang="en-US" dirty="0"/>
              <a:t>는 로그인 하지 않은 사용자로 시스템의 기본적인 서비스만 이용할 수 있고</a:t>
            </a:r>
            <a:endParaRPr lang="en-US" altLang="ko-KR" dirty="0"/>
          </a:p>
          <a:p>
            <a:r>
              <a:rPr lang="en-US" dirty="0"/>
              <a:t>Customer</a:t>
            </a:r>
            <a:r>
              <a:rPr lang="ko-KR" altLang="en-US" dirty="0"/>
              <a:t>는 로그인한 일반 회원으로서 식당 예약과 댓글 달기 등 더욱 많은 서비스를 이용하실 수 있습니다</a:t>
            </a:r>
            <a:r>
              <a:rPr lang="en-US" altLang="ko-KR" dirty="0"/>
              <a:t>.</a:t>
            </a:r>
          </a:p>
          <a:p>
            <a:r>
              <a:rPr lang="en-US" dirty="0"/>
              <a:t>Owner</a:t>
            </a:r>
            <a:r>
              <a:rPr lang="ko-KR" altLang="en-US" dirty="0"/>
              <a:t>는 가게 사장님으로서 식당 등록</a:t>
            </a:r>
            <a:r>
              <a:rPr lang="en-US" altLang="ko-KR" dirty="0"/>
              <a:t>, </a:t>
            </a:r>
            <a:r>
              <a:rPr lang="ko-KR" altLang="en-US" dirty="0"/>
              <a:t>등록된 가게 확인 등을 이용할 수 있고</a:t>
            </a:r>
            <a:endParaRPr lang="en-US" altLang="ko-KR" dirty="0"/>
          </a:p>
          <a:p>
            <a:r>
              <a:rPr lang="ko-KR" altLang="en-US" dirty="0"/>
              <a:t>마지막으로 </a:t>
            </a:r>
            <a:r>
              <a:rPr lang="en-US" altLang="ko-KR" dirty="0"/>
              <a:t>Admin</a:t>
            </a:r>
            <a:r>
              <a:rPr lang="ko-KR" altLang="en-US" dirty="0"/>
              <a:t>은 회원과 등록된 가게들의 관리 등의 종합적인 관리를 담당합니다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다음으로 </a:t>
            </a:r>
            <a:r>
              <a:rPr lang="en-US" altLang="ko-KR" dirty="0"/>
              <a:t>ERD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저의 테이블은 가게를 중심으로 연결되어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먼저 회원을 만들고 나면 그 회원 앞으로 하나의 가게를 만들 수 있고</a:t>
            </a:r>
            <a:endParaRPr lang="en-US" altLang="ko-KR" dirty="0"/>
          </a:p>
          <a:p>
            <a:r>
              <a:rPr lang="ko-KR" altLang="en-US" dirty="0"/>
              <a:t>그 가게를 중심으로 태그</a:t>
            </a:r>
            <a:r>
              <a:rPr lang="en-US" altLang="ko-KR" dirty="0"/>
              <a:t>, </a:t>
            </a:r>
            <a:r>
              <a:rPr lang="ko-KR" altLang="en-US" dirty="0"/>
              <a:t>메뉴</a:t>
            </a:r>
            <a:r>
              <a:rPr lang="en-US" altLang="ko-KR" dirty="0"/>
              <a:t>, </a:t>
            </a:r>
            <a:r>
              <a:rPr lang="ko-KR" altLang="en-US" dirty="0"/>
              <a:t>댓글</a:t>
            </a:r>
            <a:r>
              <a:rPr lang="en-US" altLang="ko-KR" dirty="0"/>
              <a:t>, </a:t>
            </a:r>
            <a:r>
              <a:rPr lang="ko-KR" altLang="en-US" dirty="0"/>
              <a:t>예약 등이 가능하도록 설계하였습니다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저의 시연 시나리오를 간략히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게스트</a:t>
            </a:r>
            <a:r>
              <a:rPr lang="en-US" altLang="ko-KR" dirty="0"/>
              <a:t>, </a:t>
            </a:r>
            <a:r>
              <a:rPr lang="ko-KR" altLang="en-US" dirty="0"/>
              <a:t>회원</a:t>
            </a:r>
            <a:r>
              <a:rPr lang="en-US" altLang="ko-KR" dirty="0"/>
              <a:t>, Customer, Owner, Admin</a:t>
            </a:r>
            <a:r>
              <a:rPr lang="ko-KR" altLang="en-US" dirty="0"/>
              <a:t>의 순서로 각 역할에 따른 기능을 순차적으로 보여드리겠습니다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73774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43D82-426A-08B5-BC6D-6C3E0A156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417262-3555-02D5-ED31-C6AF4BE354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2CCCFE-0322-AD7F-CCA3-9B62D1733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9B533-3A02-727E-76F4-1DD14BA8E4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6757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ts val="2850"/>
              </a:lnSpc>
            </a:pPr>
            <a:r>
              <a:rPr lang="ko-KR" altLang="en-US" dirty="0"/>
              <a:t>제 프로젝트에 대한 저의 평가입니다</a:t>
            </a:r>
            <a:r>
              <a:rPr lang="en-US" altLang="ko-KR" dirty="0"/>
              <a:t>. </a:t>
            </a:r>
            <a:r>
              <a:rPr lang="ko-KR" altLang="en-US" dirty="0"/>
              <a:t>여러 방면에서 다소 미흡한 면이 있었다고 생각됩니다</a:t>
            </a:r>
            <a:r>
              <a:rPr lang="en-US" altLang="ko-KR" dirty="0"/>
              <a:t>.</a:t>
            </a:r>
          </a:p>
          <a:p>
            <a:pPr lvl="1">
              <a:lnSpc>
                <a:spcPts val="2850"/>
              </a:lnSpc>
            </a:pPr>
            <a:r>
              <a:rPr lang="ko-KR" altLang="en-US" dirty="0"/>
              <a:t>하지만</a:t>
            </a:r>
            <a:r>
              <a:rPr lang="en-US" altLang="ko-KR" dirty="0"/>
              <a:t>, </a:t>
            </a:r>
            <a:r>
              <a:rPr lang="ko-KR" altLang="en-US" dirty="0"/>
              <a:t>열심히 노력한 만큼 </a:t>
            </a:r>
            <a:r>
              <a:rPr lang="ko-KR" altLang="en-US" dirty="0" err="1"/>
              <a:t>후회없는</a:t>
            </a:r>
            <a:r>
              <a:rPr lang="ko-KR" altLang="en-US" dirty="0"/>
              <a:t> 결과물이라 생각합니다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D993B-0951-CB36-AD90-E9D34F3B0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101EEC-753E-CDAB-F4E9-BB96483249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63FD6A-C49C-B1D4-0A01-DEEA29BDA0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잘한점으로는</a:t>
            </a:r>
            <a:r>
              <a:rPr lang="ko-KR" altLang="en-US" dirty="0"/>
              <a:t> 평소 문제가 생기면 혼자 끝까지 고민하는 습관이 있었는데 이번 프로젝트를 통해서 모든 것을 마냥 혼자서 해결한다고 좋은 것이 아니라는 점을 </a:t>
            </a:r>
            <a:r>
              <a:rPr lang="ko-KR" altLang="en-US" dirty="0" err="1"/>
              <a:t>깨달았습니다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이번 프로젝트를 통해 주변 사람들과 소통하여 제가 잘 만들었다고 생각하는 기능은 공유하고 저에게 있어 어려웠던 기능들은 도움을 받아 제법 훌륭한 프로젝트가 만들어졌다고 생각합니다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아쉬운 점으로는 제 프로젝트에서 노력하였지만 많은 테스트들을 거치며 찾아내었던 모든 버그들을 완벽하게 고치지는 못했다는 것과</a:t>
            </a:r>
            <a:endParaRPr lang="en-US" altLang="ko-KR" dirty="0"/>
          </a:p>
          <a:p>
            <a:r>
              <a:rPr lang="ko-KR" altLang="en-US" dirty="0"/>
              <a:t>프로젝트를 시작할 때 계획 중에 있었지만 구현하지 못한 기능들이 시간이 모자라 모두 구현하지 못했다는 점이 아쉬움으로 남습니다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B7D26-2594-DDA6-BFE3-0167E145FB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3008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D9FF9-3A3A-2C6B-7D95-8097371BA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464DAF-A145-E087-DF45-47FFF29139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2E0B7B-6419-C4AD-5D3B-6D21CB7893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ts val="2850"/>
              </a:lnSpc>
            </a:pPr>
            <a:r>
              <a:rPr lang="en-US" altLang="ko-KR" sz="1200" dirty="0">
                <a:solidFill>
                  <a:srgbClr val="49495A"/>
                </a:solidFill>
                <a:latin typeface="돋움" panose="020B0600000101010101" pitchFamily="50" charset="-127"/>
                <a:ea typeface="돋움" panose="020B0600000101010101" pitchFamily="50" charset="-127"/>
                <a:cs typeface="Open Sans" panose="020B0606030504020204" pitchFamily="34" charset="0"/>
              </a:rPr>
              <a:t>2</a:t>
            </a:r>
            <a:r>
              <a:rPr lang="ko-KR" altLang="en-US" sz="1200" dirty="0">
                <a:solidFill>
                  <a:srgbClr val="49495A"/>
                </a:solidFill>
                <a:latin typeface="Open Sans" panose="020B0606030504020204" pitchFamily="34" charset="0"/>
                <a:ea typeface="돋움" panose="020B0600000101010101" pitchFamily="50" charset="-127"/>
                <a:cs typeface="Open Sans" panose="020B0606030504020204" pitchFamily="34" charset="0"/>
              </a:rPr>
              <a:t>달이란 시간</a:t>
            </a:r>
            <a:r>
              <a:rPr lang="en-US" altLang="ko-KR" sz="1200" dirty="0">
                <a:solidFill>
                  <a:srgbClr val="49495A"/>
                </a:solidFill>
                <a:latin typeface="돋움" panose="020B0600000101010101" pitchFamily="50" charset="-127"/>
                <a:ea typeface="돋움" panose="020B0600000101010101" pitchFamily="50" charset="-127"/>
                <a:cs typeface="Open Sans" panose="020B0606030504020204" pitchFamily="34" charset="0"/>
              </a:rPr>
              <a:t>, </a:t>
            </a:r>
            <a:r>
              <a:rPr lang="ko-KR" altLang="en-US" sz="1200" dirty="0">
                <a:solidFill>
                  <a:srgbClr val="49495A"/>
                </a:solidFill>
                <a:latin typeface="Open Sans" panose="020B0606030504020204" pitchFamily="34" charset="0"/>
                <a:ea typeface="돋움" panose="020B0600000101010101" pitchFamily="50" charset="-127"/>
                <a:cs typeface="Open Sans" panose="020B0606030504020204" pitchFamily="34" charset="0"/>
              </a:rPr>
              <a:t>짧다면 짧고 길다면 긴 시간이었습니다</a:t>
            </a:r>
            <a:r>
              <a:rPr lang="en-US" altLang="ko-KR" sz="1200" dirty="0">
                <a:solidFill>
                  <a:srgbClr val="49495A"/>
                </a:solidFill>
                <a:latin typeface="돋움" panose="020B0600000101010101" pitchFamily="50" charset="-127"/>
                <a:ea typeface="돋움" panose="020B0600000101010101" pitchFamily="50" charset="-127"/>
                <a:cs typeface="Open Sans" panose="020B0606030504020204" pitchFamily="34" charset="0"/>
              </a:rPr>
              <a:t>.</a:t>
            </a:r>
          </a:p>
          <a:p>
            <a:pPr lvl="1">
              <a:lnSpc>
                <a:spcPts val="2850"/>
              </a:lnSpc>
            </a:pPr>
            <a:r>
              <a:rPr lang="en-US" altLang="ko-KR" sz="1200" dirty="0">
                <a:solidFill>
                  <a:srgbClr val="49495A"/>
                </a:solidFill>
                <a:latin typeface="돋움" panose="020B0600000101010101" pitchFamily="50" charset="-127"/>
                <a:ea typeface="돋움" panose="020B0600000101010101" pitchFamily="50" charset="-127"/>
                <a:cs typeface="Open Sans" panose="020B0606030504020204" pitchFamily="34" charset="0"/>
              </a:rPr>
              <a:t>	</a:t>
            </a:r>
          </a:p>
          <a:p>
            <a:pPr lvl="1">
              <a:lnSpc>
                <a:spcPts val="2850"/>
              </a:lnSpc>
            </a:pPr>
            <a:r>
              <a:rPr lang="ko-KR" altLang="en-US" sz="1200" dirty="0">
                <a:solidFill>
                  <a:srgbClr val="49495A"/>
                </a:solidFill>
                <a:latin typeface="Open Sans" panose="020B0606030504020204" pitchFamily="34" charset="0"/>
                <a:ea typeface="돋움" panose="020B0600000101010101" pitchFamily="50" charset="-127"/>
                <a:cs typeface="Open Sans" panose="020B0606030504020204" pitchFamily="34" charset="0"/>
              </a:rPr>
              <a:t>매일 아침 </a:t>
            </a:r>
            <a:r>
              <a:rPr lang="en-US" altLang="ko-KR" sz="1200" dirty="0">
                <a:solidFill>
                  <a:srgbClr val="49495A"/>
                </a:solidFill>
                <a:latin typeface="돋움" panose="020B0600000101010101" pitchFamily="50" charset="-127"/>
                <a:ea typeface="돋움" panose="020B0600000101010101" pitchFamily="50" charset="-127"/>
                <a:cs typeface="Open Sans" panose="020B0606030504020204" pitchFamily="34" charset="0"/>
              </a:rPr>
              <a:t>6</a:t>
            </a:r>
            <a:r>
              <a:rPr lang="ko-KR" altLang="en-US" sz="1200" dirty="0">
                <a:solidFill>
                  <a:srgbClr val="49495A"/>
                </a:solidFill>
                <a:latin typeface="Open Sans" panose="020B0606030504020204" pitchFamily="34" charset="0"/>
                <a:ea typeface="돋움" panose="020B0600000101010101" pitchFamily="50" charset="-127"/>
                <a:cs typeface="Open Sans" panose="020B0606030504020204" pitchFamily="34" charset="0"/>
              </a:rPr>
              <a:t>시에 집에서 나와 집에 돌아가면 거의 </a:t>
            </a:r>
            <a:r>
              <a:rPr lang="en-US" altLang="ko-KR" sz="1200" dirty="0">
                <a:solidFill>
                  <a:srgbClr val="49495A"/>
                </a:solidFill>
                <a:latin typeface="돋움" panose="020B0600000101010101" pitchFamily="50" charset="-127"/>
                <a:ea typeface="돋움" panose="020B0600000101010101" pitchFamily="50" charset="-127"/>
                <a:cs typeface="Open Sans" panose="020B0606030504020204" pitchFamily="34" charset="0"/>
              </a:rPr>
              <a:t>12</a:t>
            </a:r>
            <a:r>
              <a:rPr lang="ko-KR" altLang="en-US" sz="1200" dirty="0">
                <a:solidFill>
                  <a:srgbClr val="49495A"/>
                </a:solidFill>
                <a:latin typeface="Open Sans" panose="020B0606030504020204" pitchFamily="34" charset="0"/>
                <a:ea typeface="돋움" panose="020B0600000101010101" pitchFamily="50" charset="-127"/>
                <a:cs typeface="Open Sans" panose="020B0606030504020204" pitchFamily="34" charset="0"/>
              </a:rPr>
              <a:t>시가 다 되어 도착하는 생활을 매일 같이 반복하였지만 몸은 피곤하면서도 정말 즐거운 시간이어 짧게 나마 학교 생활을 다시 한 듯한 기분이었습니다</a:t>
            </a:r>
            <a:r>
              <a:rPr lang="en-US" altLang="ko-KR" sz="1200" dirty="0">
                <a:solidFill>
                  <a:srgbClr val="49495A"/>
                </a:solidFill>
                <a:latin typeface="돋움" panose="020B0600000101010101" pitchFamily="50" charset="-127"/>
                <a:ea typeface="돋움" panose="020B0600000101010101" pitchFamily="50" charset="-127"/>
                <a:cs typeface="Open Sans" panose="020B0606030504020204" pitchFamily="34" charset="0"/>
              </a:rPr>
              <a:t>. </a:t>
            </a:r>
          </a:p>
          <a:p>
            <a:pPr lvl="1">
              <a:lnSpc>
                <a:spcPts val="2850"/>
              </a:lnSpc>
            </a:pPr>
            <a:endParaRPr lang="en-US" altLang="ko-KR" sz="1200" dirty="0">
              <a:solidFill>
                <a:srgbClr val="49495A"/>
              </a:solidFill>
              <a:latin typeface="돋움" panose="020B0600000101010101" pitchFamily="50" charset="-127"/>
              <a:ea typeface="돋움" panose="020B0600000101010101" pitchFamily="50" charset="-127"/>
              <a:cs typeface="Open Sans" panose="020B0606030504020204" pitchFamily="34" charset="0"/>
            </a:endParaRPr>
          </a:p>
          <a:p>
            <a:pPr lvl="1">
              <a:lnSpc>
                <a:spcPts val="2850"/>
              </a:lnSpc>
            </a:pPr>
            <a:r>
              <a:rPr lang="ko-KR" altLang="en-US" sz="1200" dirty="0">
                <a:solidFill>
                  <a:srgbClr val="49495A"/>
                </a:solidFill>
                <a:latin typeface="Open Sans" panose="020B0606030504020204" pitchFamily="34" charset="0"/>
                <a:ea typeface="돋움" panose="020B0600000101010101" pitchFamily="50" charset="-127"/>
                <a:cs typeface="Open Sans" panose="020B0606030504020204" pitchFamily="34" charset="0"/>
              </a:rPr>
              <a:t>이 프로그램에 참여하게 되며 많은 소중한 사람들을 알게 되었고 저는 코딩 문제와 같이 문제가 생기면 혼자 풀어나가는 경향이 있었는데 이번 기회를 통해 다른 사람들과 함께 문제를 풀어 나가는 것이 더 효과적이고 빠르게 해결하는 방법이 될 수 있다는 것을 </a:t>
            </a:r>
            <a:r>
              <a:rPr lang="ko-KR" altLang="en-US" sz="1200" dirty="0" err="1">
                <a:solidFill>
                  <a:srgbClr val="49495A"/>
                </a:solidFill>
                <a:latin typeface="Open Sans" panose="020B0606030504020204" pitchFamily="34" charset="0"/>
                <a:ea typeface="돋움" panose="020B0600000101010101" pitchFamily="50" charset="-127"/>
                <a:cs typeface="Open Sans" panose="020B0606030504020204" pitchFamily="34" charset="0"/>
              </a:rPr>
              <a:t>깨달았습니다</a:t>
            </a:r>
            <a:r>
              <a:rPr lang="en-US" altLang="ko-KR" sz="1200" dirty="0">
                <a:solidFill>
                  <a:srgbClr val="49495A"/>
                </a:solidFill>
                <a:latin typeface="돋움" panose="020B0600000101010101" pitchFamily="50" charset="-127"/>
                <a:ea typeface="돋움" panose="020B0600000101010101" pitchFamily="50" charset="-127"/>
                <a:cs typeface="Open Sans" panose="020B0606030504020204" pitchFamily="34" charset="0"/>
              </a:rPr>
              <a:t>. </a:t>
            </a:r>
            <a:r>
              <a:rPr lang="ko-KR" altLang="en-US" sz="1200" dirty="0">
                <a:solidFill>
                  <a:srgbClr val="49495A"/>
                </a:solidFill>
                <a:latin typeface="Open Sans" panose="020B0606030504020204" pitchFamily="34" charset="0"/>
                <a:ea typeface="돋움" panose="020B0600000101010101" pitchFamily="50" charset="-127"/>
                <a:cs typeface="Open Sans" panose="020B0606030504020204" pitchFamily="34" charset="0"/>
              </a:rPr>
              <a:t>저를 한층 성장하게 </a:t>
            </a:r>
            <a:r>
              <a:rPr lang="ko-KR" altLang="en-US" sz="1200" dirty="0" err="1">
                <a:solidFill>
                  <a:srgbClr val="49495A"/>
                </a:solidFill>
                <a:latin typeface="Open Sans" panose="020B0606030504020204" pitchFamily="34" charset="0"/>
                <a:ea typeface="돋움" panose="020B0600000101010101" pitchFamily="50" charset="-127"/>
                <a:cs typeface="Open Sans" panose="020B0606030504020204" pitchFamily="34" charset="0"/>
              </a:rPr>
              <a:t>도와주신</a:t>
            </a:r>
            <a:r>
              <a:rPr lang="ko-KR" altLang="en-US" sz="1200" dirty="0">
                <a:solidFill>
                  <a:srgbClr val="49495A"/>
                </a:solidFill>
                <a:latin typeface="Open Sans" panose="020B0606030504020204" pitchFamily="34" charset="0"/>
                <a:ea typeface="돋움" panose="020B0600000101010101" pitchFamily="50" charset="-127"/>
                <a:cs typeface="Open Sans" panose="020B0606030504020204" pitchFamily="34" charset="0"/>
              </a:rPr>
              <a:t> 많은 분들에게 감사드립니다</a:t>
            </a:r>
            <a:r>
              <a:rPr lang="en-US" altLang="ko-KR" sz="1200" dirty="0">
                <a:solidFill>
                  <a:srgbClr val="49495A"/>
                </a:solidFill>
                <a:latin typeface="돋움" panose="020B0600000101010101" pitchFamily="50" charset="-127"/>
                <a:ea typeface="돋움" panose="020B0600000101010101" pitchFamily="50" charset="-127"/>
                <a:cs typeface="Open Sans" panose="020B0606030504020204" pitchFamily="34" charset="0"/>
              </a:rPr>
              <a:t>.</a:t>
            </a:r>
            <a:endParaRPr lang="en-US" altLang="ko-KR" sz="1200" dirty="0">
              <a:latin typeface="돋움" panose="020B0600000101010101" pitchFamily="50" charset="-127"/>
              <a:ea typeface="돋움" panose="020B0600000101010101" pitchFamily="50" charset="-127"/>
              <a:cs typeface="Open Sans" panose="020B0606030504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B2338C-4CF2-CB01-B918-E35823E200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0121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듣다가 궁금했던 점이 있으셨다면 질문해 주시고 이상으로 발표 마치겠습니다</a:t>
            </a:r>
            <a:r>
              <a:rPr lang="en-US" altLang="ko-KR"/>
              <a:t>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172.10.14.134:8088/edupack_egov/ToBeDining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18648"/>
            <a:ext cx="8095686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C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맛집 정보 </a:t>
            </a:r>
            <a:r>
              <a:rPr lang="en-US" sz="4450" b="1" dirty="0" err="1">
                <a:solidFill>
                  <a:srgbClr val="403CC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플랫폼</a:t>
            </a:r>
            <a:r>
              <a:rPr lang="en-US" sz="4450" b="1" dirty="0">
                <a:solidFill>
                  <a:srgbClr val="403CC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pPr marL="0" indent="0">
              <a:lnSpc>
                <a:spcPts val="5550"/>
              </a:lnSpc>
              <a:buNone/>
            </a:pPr>
            <a:r>
              <a:rPr lang="en-US" sz="4450" b="1" dirty="0" err="1">
                <a:solidFill>
                  <a:srgbClr val="403CC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ToBeDining</a:t>
            </a:r>
            <a:endParaRPr lang="en-US" sz="445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4276368"/>
            <a:ext cx="820880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'ToBeDining'은 지역 기반 맛집 추천 웹사이트입니다. </a:t>
            </a:r>
          </a:p>
          <a:p>
            <a:pPr marL="0" indent="0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리뷰와</a:t>
            </a:r>
            <a:r>
              <a:rPr 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평점 시스템을 통해 사용자에게 정확하고 신뢰할 수 있는 정보를 제공합니다.</a:t>
            </a:r>
            <a:endParaRPr lang="en-US" sz="17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5257324"/>
            <a:ext cx="75564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발표자: 김태훈</a:t>
            </a: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882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C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목차</a:t>
            </a:r>
            <a:endParaRPr lang="en-US" sz="445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3345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C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01 프로젝트 개요</a:t>
            </a:r>
            <a:endParaRPr lang="en-US" sz="22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91572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개발 동기 및 기획 의도</a:t>
            </a:r>
            <a:endParaRPr lang="en-US" sz="17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335792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개발 일정</a:t>
            </a:r>
            <a:endParaRPr lang="en-US" sz="17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380011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개발 환경</a:t>
            </a:r>
            <a:endParaRPr lang="en-US" sz="17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99521" y="23345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b="1" dirty="0">
                <a:solidFill>
                  <a:srgbClr val="403CC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02 </a:t>
            </a:r>
            <a:r>
              <a:rPr lang="en-US" sz="2200" b="1" dirty="0" err="1">
                <a:solidFill>
                  <a:srgbClr val="403CC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프로젝트</a:t>
            </a:r>
            <a:r>
              <a:rPr lang="en-US" sz="2200" b="1" dirty="0">
                <a:solidFill>
                  <a:srgbClr val="403CC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200" b="1" dirty="0" err="1">
                <a:solidFill>
                  <a:srgbClr val="403CC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상세</a:t>
            </a:r>
            <a:endParaRPr lang="en-US" sz="2200" b="1" dirty="0">
              <a:solidFill>
                <a:srgbClr val="403CC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99521" y="291572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구조도</a:t>
            </a:r>
            <a:endParaRPr lang="en-US" sz="17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99521" y="335792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ERD</a:t>
            </a:r>
            <a:endParaRPr lang="en-US" sz="17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99521" y="380011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주요 </a:t>
            </a:r>
            <a:r>
              <a:rPr lang="en-US" sz="175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기능</a:t>
            </a:r>
            <a:r>
              <a:rPr 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75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소개</a:t>
            </a:r>
            <a:endParaRPr lang="en-US" sz="17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3790" y="47242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b="1" dirty="0">
                <a:solidFill>
                  <a:srgbClr val="403CC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03 </a:t>
            </a:r>
            <a:r>
              <a:rPr lang="en-US" sz="2200" b="1" dirty="0" err="1">
                <a:solidFill>
                  <a:srgbClr val="403CC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프로젝트</a:t>
            </a:r>
            <a:r>
              <a:rPr lang="en-US" sz="2200" b="1" dirty="0">
                <a:solidFill>
                  <a:srgbClr val="403CC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200" b="1" dirty="0" err="1">
                <a:solidFill>
                  <a:srgbClr val="403CC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시연</a:t>
            </a:r>
            <a:endParaRPr lang="en-US" sz="2200" b="1" dirty="0">
              <a:solidFill>
                <a:srgbClr val="403CC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93790" y="530542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간략 시나리오</a:t>
            </a:r>
            <a:endParaRPr lang="en-US" sz="17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93790" y="574762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시연</a:t>
            </a:r>
            <a:endParaRPr lang="en-US" sz="17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599521" y="47242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b="1" dirty="0">
                <a:solidFill>
                  <a:srgbClr val="403CC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04 </a:t>
            </a:r>
            <a:r>
              <a:rPr lang="en-US" sz="2200" b="1" dirty="0" err="1">
                <a:solidFill>
                  <a:srgbClr val="403CC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마무리</a:t>
            </a:r>
            <a:endParaRPr lang="en-US" sz="2200" b="1" dirty="0">
              <a:solidFill>
                <a:srgbClr val="403CC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599521" y="5305425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진행소감
(개발 완성도/잘한 점, 아쉬운 점/ 종합적 </a:t>
            </a:r>
            <a:r>
              <a:rPr lang="en-US" sz="175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평가</a:t>
            </a:r>
            <a:r>
              <a:rPr 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</a:p>
          <a:p>
            <a:pPr marL="342900" indent="-342900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Q&amp;A</a:t>
            </a:r>
            <a:endParaRPr lang="en-US" sz="17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93790" y="680787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>
              <a:latin typeface="Noto Sans" panose="020B0502040204020203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C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1.프로젝트 개요</a:t>
            </a:r>
            <a:endParaRPr lang="en-US" sz="445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4597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C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개발 동기 &amp; 기획 의도</a:t>
            </a:r>
            <a:endParaRPr lang="en-US" sz="445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4094916"/>
            <a:ext cx="7556421" cy="2527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ko-KR" altLang="en-US" sz="200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카카오맵</a:t>
            </a:r>
            <a:r>
              <a:rPr lang="ko-KR" altLang="en-US" sz="20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ko-KR" sz="200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api</a:t>
            </a:r>
            <a:r>
              <a:rPr lang="en-US" altLang="ko-KR" sz="20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ko-KR" altLang="en-US" sz="20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사용</a:t>
            </a:r>
            <a:endParaRPr lang="en-US" altLang="ko-KR" sz="2000" dirty="0">
              <a:solidFill>
                <a:srgbClr val="49495A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맛집을 즐겨 찾음</a:t>
            </a:r>
            <a:endParaRPr lang="en-US" altLang="ko-KR" sz="2000" dirty="0">
              <a:solidFill>
                <a:srgbClr val="49495A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모두에게 친숙함</a:t>
            </a:r>
            <a:r>
              <a:rPr lang="en-US" sz="200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en-US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932" y="621387"/>
            <a:ext cx="6883122" cy="706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403CC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참고 데모 사이트: 다이닝코드</a:t>
            </a:r>
            <a:endParaRPr lang="en-US" sz="44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32" y="1920716"/>
            <a:ext cx="5547955" cy="392239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164" y="2312313"/>
            <a:ext cx="6903006" cy="353079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18365" y="5705713"/>
            <a:ext cx="6928604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endParaRPr lang="en-US" sz="1750" dirty="0">
              <a:latin typeface="Noto Sans" panose="020B0502040204020203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790932" y="6524744"/>
            <a:ext cx="13048536" cy="1084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endParaRPr lang="en-US" sz="17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088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C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차별화 포인트</a:t>
            </a:r>
            <a:endParaRPr lang="en-US" sz="445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280190" y="251293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6459379" y="2597944"/>
            <a:ext cx="151805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Libre Baskerville" pitchFamily="34" charset="-120"/>
              </a:rPr>
              <a:t>1</a:t>
            </a:r>
            <a:endParaRPr lang="en-US" sz="2650" dirty="0">
              <a:latin typeface="Noto Sans" panose="020B0502040204020203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017306" y="2512933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로그인 기능을 통해 각 사용자에게 필요하나 서비스 제공합니다.</a:t>
            </a:r>
            <a:endParaRPr lang="en-US" sz="17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280190" y="376035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6430566" y="3845362"/>
            <a:ext cx="20955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Libre Baskerville" pitchFamily="34" charset="-120"/>
              </a:rPr>
              <a:t>2</a:t>
            </a:r>
            <a:endParaRPr lang="en-US" sz="2650" dirty="0">
              <a:latin typeface="Noto Sans" panose="020B0502040204020203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017306" y="3760351"/>
            <a:ext cx="71983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좌측 메뉴 바를 통해 필요한 메뉴를 한눈에 확인하고 빠르게 접근 가능합니다.</a:t>
            </a:r>
            <a:endParaRPr lang="en-US" sz="17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280190" y="500776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430566" y="5092779"/>
            <a:ext cx="20955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Libre Baskerville" pitchFamily="34" charset="-120"/>
              </a:rPr>
              <a:t>3</a:t>
            </a:r>
            <a:endParaRPr lang="en-US" sz="2650" dirty="0">
              <a:latin typeface="Noto Sans" panose="020B0502040204020203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017306" y="5007769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간소화된 UI로 필요한 정보만 더욱 편리하게 얻을 수 있습니다.</a:t>
            </a:r>
            <a:endParaRPr lang="en-US" sz="17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280190" y="625518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6435804" y="6340197"/>
            <a:ext cx="199072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Libre Baskerville" pitchFamily="34" charset="-120"/>
              </a:rPr>
              <a:t>4</a:t>
            </a:r>
            <a:endParaRPr lang="en-US" sz="2650" dirty="0">
              <a:latin typeface="Noto Sans" panose="020B0502040204020203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017306" y="6255187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식당 예약 및 댓글 기능을 통해 손님과 사장님의 </a:t>
            </a:r>
            <a:r>
              <a:rPr lang="en-US" sz="175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자유로운</a:t>
            </a:r>
            <a:r>
              <a:rPr 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75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소통이</a:t>
            </a:r>
            <a:r>
              <a:rPr 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75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가능합니다</a:t>
            </a:r>
            <a:r>
              <a:rPr 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US" sz="17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576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51390" y="6361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C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개발 일정</a:t>
            </a:r>
            <a:endParaRPr lang="en-US" sz="445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776311" y="1685092"/>
            <a:ext cx="30480" cy="5908238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5016222" y="2180153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536400" y="194024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4715589" y="2025253"/>
            <a:ext cx="151805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Libre Baskerville" pitchFamily="34" charset="-120"/>
              </a:rPr>
              <a:t>1</a:t>
            </a:r>
            <a:endParaRPr lang="en-US" sz="2650" dirty="0">
              <a:latin typeface="Noto Sans" panose="020B0502040204020203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039088" y="1911906"/>
            <a:ext cx="30221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Libre Baskerville" pitchFamily="34" charset="-120"/>
              </a:rPr>
              <a:t>1단계: 기획 (12.23 ~ 1.6)</a:t>
            </a:r>
            <a:endParaRPr lang="en-US" sz="2200" dirty="0">
              <a:latin typeface="Noto Sans" panose="020B0502040204020203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039088" y="2402324"/>
            <a:ext cx="77975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계획수립 및 요구사항 도출 </a:t>
            </a:r>
            <a:endParaRPr lang="en-US" sz="17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016222" y="3713917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536400" y="347400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4686776" y="3559016"/>
            <a:ext cx="20955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Libre Baskerville" pitchFamily="34" charset="-120"/>
              </a:rPr>
              <a:t>2</a:t>
            </a:r>
            <a:endParaRPr lang="en-US" sz="2650" dirty="0">
              <a:latin typeface="Noto Sans" panose="020B0502040204020203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039088" y="3445669"/>
            <a:ext cx="28552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Libre Baskerville" pitchFamily="34" charset="-120"/>
              </a:rPr>
              <a:t>2단계: 설계 (1.6 ~ 1.16)</a:t>
            </a:r>
            <a:endParaRPr lang="en-US" sz="2200" dirty="0">
              <a:latin typeface="Noto Sans" panose="020B0502040204020203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039088" y="3936087"/>
            <a:ext cx="77975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요구사항 정의, 테이블 설계, 개발 및 디자인 표준화</a:t>
            </a:r>
            <a:endParaRPr lang="en-US" sz="17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016222" y="5247680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536400" y="500776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4686776" y="5092779"/>
            <a:ext cx="20955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Libre Baskerville" pitchFamily="34" charset="-120"/>
              </a:rPr>
              <a:t>3</a:t>
            </a:r>
            <a:endParaRPr lang="en-US" sz="2650" dirty="0">
              <a:latin typeface="Noto Sans" panose="020B0502040204020203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039088" y="4979432"/>
            <a:ext cx="30174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Libre Baskerville" pitchFamily="34" charset="-120"/>
              </a:rPr>
              <a:t>3단계: 구현(1.16 ~ 2.20)</a:t>
            </a:r>
            <a:endParaRPr lang="en-US" sz="2200" dirty="0">
              <a:latin typeface="Noto Sans" panose="020B0502040204020203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039088" y="5469850"/>
            <a:ext cx="77975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UI 공통, 메인 화면 처리, UI 개발</a:t>
            </a:r>
            <a:endParaRPr lang="en-US" sz="17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016222" y="6781443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4536400" y="654153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4692015" y="6626543"/>
            <a:ext cx="199072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Libre Baskerville" pitchFamily="34" charset="-120"/>
              </a:rPr>
              <a:t>4</a:t>
            </a:r>
            <a:endParaRPr lang="en-US" sz="2650" dirty="0">
              <a:latin typeface="Noto Sans" panose="020B0502040204020203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039088" y="6513195"/>
            <a:ext cx="33687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Libre Baskerville" pitchFamily="34" charset="-120"/>
              </a:rPr>
              <a:t>4단계: 테스트(2.20 ~ 2.26)</a:t>
            </a:r>
            <a:endParaRPr lang="en-US" sz="2200" dirty="0">
              <a:latin typeface="Noto Sans" panose="020B0502040204020203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039088" y="7003613"/>
            <a:ext cx="77975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산출물</a:t>
            </a:r>
            <a:r>
              <a:rPr 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75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정리</a:t>
            </a:r>
            <a:r>
              <a:rPr 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ko-KR" alt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및 테스트</a:t>
            </a:r>
            <a:endParaRPr lang="en-US" sz="17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C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개발 환경</a:t>
            </a:r>
            <a:endParaRPr lang="en-US" sz="445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C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Front-end</a:t>
            </a:r>
            <a:endParaRPr lang="en-US" sz="22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300521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NEXACRO Studio, </a:t>
            </a:r>
          </a:p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JavaScript, CSS</a:t>
            </a:r>
            <a:endParaRPr lang="en-US" sz="17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200406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b="1" dirty="0">
                <a:solidFill>
                  <a:srgbClr val="403CC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Back-end</a:t>
            </a:r>
          </a:p>
        </p:txBody>
      </p:sp>
      <p:sp>
        <p:nvSpPr>
          <p:cNvPr id="6" name="Text 4"/>
          <p:cNvSpPr/>
          <p:nvPr/>
        </p:nvSpPr>
        <p:spPr>
          <a:xfrm>
            <a:off x="4200406" y="4578310"/>
            <a:ext cx="2835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eGovFrameWork, </a:t>
            </a:r>
          </a:p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Apache TOMCAT, </a:t>
            </a:r>
          </a:p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MARIA DB</a:t>
            </a:r>
            <a:endParaRPr lang="en-US" sz="17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07022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b="1" dirty="0">
                <a:solidFill>
                  <a:srgbClr val="403CC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Database</a:t>
            </a:r>
          </a:p>
        </p:txBody>
      </p:sp>
      <p:sp>
        <p:nvSpPr>
          <p:cNvPr id="8" name="Text 6"/>
          <p:cNvSpPr/>
          <p:nvPr/>
        </p:nvSpPr>
        <p:spPr>
          <a:xfrm>
            <a:off x="7607022" y="4578310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Heidi SQL</a:t>
            </a:r>
            <a:endParaRPr lang="en-US" sz="17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013638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b="1" dirty="0">
                <a:solidFill>
                  <a:srgbClr val="403CC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Tools</a:t>
            </a:r>
          </a:p>
        </p:txBody>
      </p:sp>
      <p:sp>
        <p:nvSpPr>
          <p:cNvPr id="10" name="Text 8"/>
          <p:cNvSpPr/>
          <p:nvPr/>
        </p:nvSpPr>
        <p:spPr>
          <a:xfrm>
            <a:off x="11013638" y="4578310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Eclipse, Kakao Maps API</a:t>
            </a:r>
            <a:endParaRPr lang="en-US" sz="17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40887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C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2.프로젝트 상세</a:t>
            </a:r>
            <a:endParaRPr lang="en-US" sz="445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4457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프로젝트의 주요 구조, ERD, 핵심 기능 소개</a:t>
            </a:r>
            <a:endParaRPr lang="en-US" sz="17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5D2666DA-4B4C-27C5-FF20-BB5C56246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5683" y="924878"/>
            <a:ext cx="5040511" cy="630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403CC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구조도</a:t>
            </a:r>
            <a:endParaRPr lang="en-US" sz="395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2423" y="1958102"/>
            <a:ext cx="1635800" cy="11615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54066" y="2481143"/>
            <a:ext cx="112395" cy="403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Libre Baskerville" pitchFamily="34" charset="-120"/>
              </a:rPr>
              <a:t>1</a:t>
            </a:r>
            <a:endParaRPr lang="en-US" sz="1950" dirty="0">
              <a:latin typeface="Noto Sans" panose="020B0502040204020203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029795" y="2159675"/>
            <a:ext cx="1691878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Admin</a:t>
            </a:r>
            <a:endParaRPr lang="en-US" sz="195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029795" y="2595682"/>
            <a:ext cx="1691878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회원 관리, </a:t>
            </a:r>
            <a:r>
              <a:rPr lang="en-US" sz="155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가게</a:t>
            </a:r>
            <a:r>
              <a:rPr lang="en-US" sz="15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55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관리</a:t>
            </a:r>
            <a:r>
              <a:rPr lang="en-US" sz="15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ko-KR" altLang="en-US" sz="15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공지사항 작성</a:t>
            </a:r>
            <a:endParaRPr lang="en-US" sz="15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878586" y="3135273"/>
            <a:ext cx="8995767" cy="11430"/>
          </a:xfrm>
          <a:prstGeom prst="roundRect">
            <a:avLst>
              <a:gd name="adj" fmla="val 264599"/>
            </a:avLst>
          </a:prstGeom>
          <a:solidFill>
            <a:srgbClr val="D0CED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4583" y="3170039"/>
            <a:ext cx="3271599" cy="116157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32634" y="3549134"/>
            <a:ext cx="155258" cy="403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Libre Baskerville" pitchFamily="34" charset="-120"/>
              </a:rPr>
              <a:t>2</a:t>
            </a:r>
            <a:endParaRPr lang="en-US" sz="1950" dirty="0">
              <a:latin typeface="Noto Sans" panose="020B0502040204020203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847755" y="3371612"/>
            <a:ext cx="2520196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Owner</a:t>
            </a:r>
          </a:p>
        </p:txBody>
      </p:sp>
      <p:sp>
        <p:nvSpPr>
          <p:cNvPr id="11" name="Text 7"/>
          <p:cNvSpPr/>
          <p:nvPr/>
        </p:nvSpPr>
        <p:spPr>
          <a:xfrm>
            <a:off x="5847755" y="3807619"/>
            <a:ext cx="7634883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식당</a:t>
            </a:r>
            <a:r>
              <a:rPr lang="en-US" sz="15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55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등록</a:t>
            </a:r>
            <a:r>
              <a:rPr lang="en-US" sz="15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등록된 가게 확인, 예약 수락/거절, 사용자 프로필 조회</a:t>
            </a:r>
            <a:endParaRPr lang="en-US" sz="15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5696545" y="4347210"/>
            <a:ext cx="8177808" cy="11430"/>
          </a:xfrm>
          <a:prstGeom prst="roundRect">
            <a:avLst>
              <a:gd name="adj" fmla="val 264599"/>
            </a:avLst>
          </a:prstGeom>
          <a:solidFill>
            <a:srgbClr val="D0CED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6623" y="4381976"/>
            <a:ext cx="4907518" cy="116157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32634" y="4761071"/>
            <a:ext cx="155258" cy="403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Libre Baskerville" pitchFamily="34" charset="-120"/>
              </a:rPr>
              <a:t>3</a:t>
            </a:r>
            <a:endParaRPr lang="en-US" sz="1950" dirty="0">
              <a:latin typeface="Noto Sans" panose="020B0502040204020203" pitchFamily="34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6665714" y="4583549"/>
            <a:ext cx="2520196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Customer</a:t>
            </a:r>
          </a:p>
        </p:txBody>
      </p:sp>
      <p:sp>
        <p:nvSpPr>
          <p:cNvPr id="16" name="Text 11"/>
          <p:cNvSpPr/>
          <p:nvPr/>
        </p:nvSpPr>
        <p:spPr>
          <a:xfrm>
            <a:off x="6665714" y="5019556"/>
            <a:ext cx="5417820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식당 예약, 댓글 달기, 예약 내역 조회, 맛집 검색 및 상세 </a:t>
            </a:r>
            <a:r>
              <a:rPr lang="en-US" sz="155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정보</a:t>
            </a:r>
            <a:r>
              <a:rPr lang="en-US" sz="15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55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확인</a:t>
            </a:r>
            <a:r>
              <a:rPr lang="en-US" sz="15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best </a:t>
            </a:r>
            <a:r>
              <a:rPr lang="ko-KR" altLang="en-US" sz="15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맛집</a:t>
            </a:r>
            <a:endParaRPr lang="en-US" sz="15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6514505" y="5559147"/>
            <a:ext cx="7359848" cy="11430"/>
          </a:xfrm>
          <a:prstGeom prst="roundRect">
            <a:avLst>
              <a:gd name="adj" fmla="val 264599"/>
            </a:avLst>
          </a:prstGeom>
          <a:solidFill>
            <a:srgbClr val="D0CED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664" y="5593913"/>
            <a:ext cx="6543318" cy="116157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936563" y="5973008"/>
            <a:ext cx="147399" cy="403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Libre Baskerville" pitchFamily="34" charset="-120"/>
              </a:rPr>
              <a:t>4</a:t>
            </a:r>
            <a:endParaRPr lang="en-US" sz="1950" dirty="0">
              <a:latin typeface="Noto Sans" panose="020B0502040204020203" pitchFamily="34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7483554" y="5795486"/>
            <a:ext cx="2520196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Guest</a:t>
            </a:r>
          </a:p>
        </p:txBody>
      </p:sp>
      <p:sp>
        <p:nvSpPr>
          <p:cNvPr id="21" name="Text 15"/>
          <p:cNvSpPr/>
          <p:nvPr/>
        </p:nvSpPr>
        <p:spPr>
          <a:xfrm>
            <a:off x="7483554" y="6231493"/>
            <a:ext cx="4519732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맛집 정보 검색, 태그별 추천 기능, 맛집 상세 정보 접근</a:t>
            </a:r>
            <a:endParaRPr lang="en-US" sz="15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705683" y="6982301"/>
            <a:ext cx="13219033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다양한 사용자 역할에 따라 ToBeDining 플랫폼의 기능과 접근 권한을 차별화하여, 효율적인 정보 관리와 사용자 경험을 제공합니다.</a:t>
            </a:r>
            <a:endParaRPr lang="en-US" sz="15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7700" y="508873"/>
            <a:ext cx="4626888" cy="578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550"/>
              </a:lnSpc>
              <a:buNone/>
            </a:pPr>
            <a:r>
              <a:rPr lang="en-US" sz="3600" dirty="0">
                <a:solidFill>
                  <a:srgbClr val="403CCF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Libre Baskerville" pitchFamily="34" charset="-120"/>
              </a:rPr>
              <a:t>ERD</a:t>
            </a:r>
            <a:endParaRPr lang="en-US" sz="3600" dirty="0">
              <a:latin typeface="Noto Sans" panose="020B0502040204020203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004" y="1376243"/>
            <a:ext cx="10364391" cy="57625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7700" y="7427833"/>
            <a:ext cx="13335000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300"/>
              </a:lnSpc>
              <a:buNone/>
            </a:pPr>
            <a:endParaRPr lang="en-US" sz="1450" dirty="0">
              <a:latin typeface="Noto Sans" panose="020B0502040204020203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0887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C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3.기능 시연</a:t>
            </a:r>
            <a:endParaRPr lang="en-US" sz="445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4457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간략 시나리오,  시연</a:t>
            </a:r>
            <a:endParaRPr lang="en-US" sz="17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1640" y="582692"/>
            <a:ext cx="5297805" cy="662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403CC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기능 시연 시나리오</a:t>
            </a:r>
            <a:endParaRPr lang="en-US" sz="415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41640" y="4658916"/>
            <a:ext cx="13147119" cy="22860"/>
          </a:xfrm>
          <a:prstGeom prst="roundRect">
            <a:avLst>
              <a:gd name="adj" fmla="val 139052"/>
            </a:avLst>
          </a:prstGeom>
          <a:solidFill>
            <a:srgbClr val="D0CE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850713" y="3917275"/>
            <a:ext cx="22860" cy="741640"/>
          </a:xfrm>
          <a:prstGeom prst="roundRect">
            <a:avLst>
              <a:gd name="adj" fmla="val 139052"/>
            </a:avLst>
          </a:prstGeom>
          <a:solidFill>
            <a:srgbClr val="D0CE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623780" y="4420553"/>
            <a:ext cx="476726" cy="476726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791182" y="4499967"/>
            <a:ext cx="141803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49495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Libre Baskerville" pitchFamily="34" charset="-120"/>
              </a:rPr>
              <a:t>1</a:t>
            </a:r>
            <a:endParaRPr lang="en-US" sz="2500" dirty="0">
              <a:latin typeface="Noto Sans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537692" y="1668661"/>
            <a:ext cx="2648903" cy="33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게스트</a:t>
            </a:r>
            <a:endParaRPr lang="en-US" sz="205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53453" y="2126813"/>
            <a:ext cx="3817501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태그별 맛집 소개 (홈 화면)</a:t>
            </a:r>
            <a:endParaRPr lang="en-US" sz="16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53453" y="2539960"/>
            <a:ext cx="3817501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맛집 검색 및 위치 변경</a:t>
            </a:r>
            <a:endParaRPr lang="en-US" sz="16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53453" y="2953107"/>
            <a:ext cx="3817501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가게 상세 정보 확인</a:t>
            </a:r>
            <a:endParaRPr lang="en-US" sz="16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53453" y="3366254"/>
            <a:ext cx="3817501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리뷰 정렬 (오름차순/내림차순)</a:t>
            </a:r>
            <a:endParaRPr lang="en-US" sz="16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077182" y="4658916"/>
            <a:ext cx="22860" cy="741640"/>
          </a:xfrm>
          <a:prstGeom prst="roundRect">
            <a:avLst>
              <a:gd name="adj" fmla="val 139052"/>
            </a:avLst>
          </a:prstGeom>
          <a:solidFill>
            <a:srgbClr val="D0CE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850249" y="4420553"/>
            <a:ext cx="476726" cy="476726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990624" y="4499967"/>
            <a:ext cx="195858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49495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Libre Baskerville" pitchFamily="34" charset="-120"/>
              </a:rPr>
              <a:t>2</a:t>
            </a:r>
            <a:endParaRPr lang="en-US" sz="2500" dirty="0">
              <a:latin typeface="Noto Sans" panose="020B050204020402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764161" y="5612487"/>
            <a:ext cx="2648903" cy="33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600"/>
              </a:lnSpc>
            </a:pPr>
            <a:r>
              <a:rPr lang="en-US" sz="2050" b="1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회원 (</a:t>
            </a:r>
            <a:r>
              <a:rPr lang="en-US" sz="2050" b="1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공통</a:t>
            </a:r>
            <a:r>
              <a:rPr lang="en-US" sz="2050" b="1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</a:p>
        </p:txBody>
      </p:sp>
      <p:sp>
        <p:nvSpPr>
          <p:cNvPr id="16" name="Text 14"/>
          <p:cNvSpPr/>
          <p:nvPr/>
        </p:nvSpPr>
        <p:spPr>
          <a:xfrm>
            <a:off x="3179921" y="6070640"/>
            <a:ext cx="3817501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회원가입</a:t>
            </a:r>
            <a:endParaRPr lang="en-US" sz="16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179921" y="6483787"/>
            <a:ext cx="3817501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아이디/비밀번호 찾기</a:t>
            </a:r>
            <a:endParaRPr lang="en-US" sz="16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179921" y="6896933"/>
            <a:ext cx="3817501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아이디 저장</a:t>
            </a:r>
            <a:endParaRPr lang="en-US" sz="16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179921" y="7310080"/>
            <a:ext cx="3817501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로그인/로그아웃</a:t>
            </a:r>
            <a:endParaRPr lang="en-US" sz="16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303651" y="3917275"/>
            <a:ext cx="22860" cy="741640"/>
          </a:xfrm>
          <a:prstGeom prst="roundRect">
            <a:avLst>
              <a:gd name="adj" fmla="val 139052"/>
            </a:avLst>
          </a:prstGeom>
          <a:solidFill>
            <a:srgbClr val="D0CE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7076718" y="4420553"/>
            <a:ext cx="476726" cy="476726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217093" y="4499967"/>
            <a:ext cx="195858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49495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Libre Baskerville" pitchFamily="34" charset="-120"/>
              </a:rPr>
              <a:t>3</a:t>
            </a:r>
            <a:endParaRPr lang="en-US" sz="2500" dirty="0">
              <a:latin typeface="Noto Sans" panose="020B0502040204020203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216056" y="5612487"/>
            <a:ext cx="2648903" cy="33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600"/>
              </a:lnSpc>
            </a:pPr>
            <a:r>
              <a:rPr lang="en-US" sz="2050" b="1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Owner</a:t>
            </a:r>
          </a:p>
        </p:txBody>
      </p:sp>
      <p:sp>
        <p:nvSpPr>
          <p:cNvPr id="24" name="Text 22"/>
          <p:cNvSpPr/>
          <p:nvPr/>
        </p:nvSpPr>
        <p:spPr>
          <a:xfrm>
            <a:off x="7631816" y="6070639"/>
            <a:ext cx="3817501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Owner 로그인 후 메뉴바 설명</a:t>
            </a:r>
            <a:endParaRPr lang="en-US" sz="16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631816" y="6483786"/>
            <a:ext cx="3817501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가게 등록 (중복 확인, 정보 입력)</a:t>
            </a:r>
            <a:endParaRPr lang="en-US" sz="16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631816" y="6896933"/>
            <a:ext cx="3817501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메뉴 추가/삭제</a:t>
            </a:r>
            <a:endParaRPr lang="en-US" sz="16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631816" y="7310080"/>
            <a:ext cx="3817501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예약 수락</a:t>
            </a:r>
            <a:endParaRPr lang="en-US" sz="16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530120" y="4658916"/>
            <a:ext cx="22860" cy="741640"/>
          </a:xfrm>
          <a:prstGeom prst="roundRect">
            <a:avLst>
              <a:gd name="adj" fmla="val 139052"/>
            </a:avLst>
          </a:prstGeom>
          <a:solidFill>
            <a:srgbClr val="D0CE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303187" y="4420553"/>
            <a:ext cx="476726" cy="476726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9448562" y="4499967"/>
            <a:ext cx="185976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49495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Libre Baskerville" pitchFamily="34" charset="-120"/>
              </a:rPr>
              <a:t>4</a:t>
            </a:r>
            <a:endParaRPr lang="en-US" sz="2500" dirty="0">
              <a:latin typeface="Noto Sans" panose="020B0502040204020203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039445" y="1913300"/>
            <a:ext cx="2648903" cy="33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600"/>
              </a:lnSpc>
            </a:pPr>
            <a:r>
              <a:rPr lang="en-US" sz="2050" b="1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Customer</a:t>
            </a:r>
          </a:p>
        </p:txBody>
      </p:sp>
      <p:sp>
        <p:nvSpPr>
          <p:cNvPr id="32" name="Text 30"/>
          <p:cNvSpPr/>
          <p:nvPr/>
        </p:nvSpPr>
        <p:spPr>
          <a:xfrm>
            <a:off x="5455206" y="2371453"/>
            <a:ext cx="3817501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Customer 로그인 후 댓글/예약</a:t>
            </a:r>
            <a:endParaRPr lang="en-US" sz="16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455206" y="2784600"/>
            <a:ext cx="3817501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프로필/예약 </a:t>
            </a:r>
            <a:r>
              <a:rPr lang="en-US" sz="165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내역</a:t>
            </a:r>
            <a:r>
              <a:rPr lang="en-US" sz="16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5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확인</a:t>
            </a:r>
            <a:endParaRPr lang="en-US" sz="1650" dirty="0">
              <a:solidFill>
                <a:srgbClr val="49495A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Best</a:t>
            </a:r>
            <a:r>
              <a:rPr lang="ko-KR" altLang="en-US" sz="16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맛집</a:t>
            </a:r>
            <a:endParaRPr lang="en-US" sz="16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1756588" y="3917275"/>
            <a:ext cx="22860" cy="741640"/>
          </a:xfrm>
          <a:prstGeom prst="roundRect">
            <a:avLst>
              <a:gd name="adj" fmla="val 139052"/>
            </a:avLst>
          </a:prstGeom>
          <a:solidFill>
            <a:srgbClr val="D0CE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1529655" y="4420553"/>
            <a:ext cx="476726" cy="476726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11677769" y="4499967"/>
            <a:ext cx="180499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49495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Libre Baskerville" pitchFamily="34" charset="-120"/>
              </a:rPr>
              <a:t>5</a:t>
            </a:r>
            <a:endParaRPr lang="en-US" sz="2500" dirty="0">
              <a:latin typeface="Noto Sans" panose="020B0502040204020203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0443567" y="2494955"/>
            <a:ext cx="2648903" cy="33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600"/>
              </a:lnSpc>
            </a:pPr>
            <a:r>
              <a:rPr lang="en-US" sz="2050" b="1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Admin</a:t>
            </a:r>
          </a:p>
        </p:txBody>
      </p:sp>
      <p:sp>
        <p:nvSpPr>
          <p:cNvPr id="38" name="Text 36"/>
          <p:cNvSpPr/>
          <p:nvPr/>
        </p:nvSpPr>
        <p:spPr>
          <a:xfrm>
            <a:off x="9859328" y="2953107"/>
            <a:ext cx="3817501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관리자 로그인</a:t>
            </a:r>
            <a:endParaRPr lang="en-US" sz="16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859328" y="3366254"/>
            <a:ext cx="3817501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가게, </a:t>
            </a:r>
            <a:r>
              <a:rPr lang="en-US" sz="165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회원</a:t>
            </a:r>
            <a:r>
              <a:rPr lang="en-US" sz="16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관</a:t>
            </a:r>
            <a:r>
              <a:rPr lang="ko-KR" altLang="en-US" sz="16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리</a:t>
            </a:r>
            <a:endParaRPr lang="en-US" altLang="ko-KR" sz="1650" dirty="0">
              <a:solidFill>
                <a:srgbClr val="49495A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lnSpc>
                <a:spcPts val="2650"/>
              </a:lnSpc>
              <a:buSzPct val="100000"/>
              <a:buChar char="•"/>
            </a:pPr>
            <a:r>
              <a:rPr lang="ko-KR" altLang="en-US" sz="16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공지사항</a:t>
            </a:r>
            <a:r>
              <a:rPr lang="en-US" altLang="ko-KR" sz="16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,best </a:t>
            </a:r>
            <a:r>
              <a:rPr lang="ko-KR" altLang="en-US" sz="16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맛집</a:t>
            </a:r>
            <a:endParaRPr lang="en-US" altLang="ko-KR" sz="1650" dirty="0">
              <a:solidFill>
                <a:srgbClr val="49495A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2650"/>
              </a:lnSpc>
              <a:buSzPct val="100000"/>
            </a:pPr>
            <a:endParaRPr lang="en-US" sz="16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79BFDEB-5793-1BA4-B098-43B779374D71}"/>
              </a:ext>
            </a:extLst>
          </p:cNvPr>
          <p:cNvSpPr/>
          <p:nvPr/>
        </p:nvSpPr>
        <p:spPr>
          <a:xfrm>
            <a:off x="684967" y="695087"/>
            <a:ext cx="4892873" cy="611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403CC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기능 시연</a:t>
            </a:r>
            <a:endParaRPr lang="en-US" sz="385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C25442-8806-507F-5AAF-4216CFCAB32F}"/>
              </a:ext>
            </a:extLst>
          </p:cNvPr>
          <p:cNvSpPr txBox="1"/>
          <p:nvPr/>
        </p:nvSpPr>
        <p:spPr>
          <a:xfrm>
            <a:off x="515983" y="3930134"/>
            <a:ext cx="13840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hlinkClick r:id="rId3"/>
              </a:rPr>
              <a:t>http://172.10.14.134:8088/edupack_egov/ToBeDining/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688422-4773-4521-D04B-0C17111AA260}"/>
              </a:ext>
            </a:extLst>
          </p:cNvPr>
          <p:cNvSpPr txBox="1"/>
          <p:nvPr/>
        </p:nvSpPr>
        <p:spPr>
          <a:xfrm>
            <a:off x="3657600" y="3930134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899B18-8FC8-375E-A96A-AC5C755C4458}"/>
              </a:ext>
            </a:extLst>
          </p:cNvPr>
          <p:cNvSpPr txBox="1"/>
          <p:nvPr/>
        </p:nvSpPr>
        <p:spPr>
          <a:xfrm>
            <a:off x="3657600" y="3930134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3074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17F61-C59E-6F22-D3AB-6C37B1909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19F8F71-88C6-33B3-EA0C-518BDFD7E9DB}"/>
              </a:ext>
            </a:extLst>
          </p:cNvPr>
          <p:cNvSpPr/>
          <p:nvPr/>
        </p:nvSpPr>
        <p:spPr>
          <a:xfrm>
            <a:off x="793790" y="340887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C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4.</a:t>
            </a:r>
            <a:r>
              <a:rPr lang="ko-KR" altLang="en-US" sz="4450" b="1" dirty="0">
                <a:solidFill>
                  <a:srgbClr val="403CC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마무리</a:t>
            </a:r>
            <a:endParaRPr lang="en-US" sz="445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ECA144C-EBB2-BEBD-CFC4-D983013E1E25}"/>
              </a:ext>
            </a:extLst>
          </p:cNvPr>
          <p:cNvSpPr/>
          <p:nvPr/>
        </p:nvSpPr>
        <p:spPr>
          <a:xfrm>
            <a:off x="793790" y="4457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ko-KR" alt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개발 완성도</a:t>
            </a:r>
            <a:r>
              <a:rPr lang="en-US" altLang="ko-KR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ko-KR" altLang="en-US" sz="175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잘한점</a:t>
            </a:r>
            <a:r>
              <a:rPr lang="ko-KR" alt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및 </a:t>
            </a:r>
            <a:r>
              <a:rPr lang="ko-KR" altLang="en-US" sz="175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못한점</a:t>
            </a:r>
            <a:r>
              <a:rPr lang="en-US" altLang="ko-KR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ko-KR" alt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종합 평가 및 소감</a:t>
            </a:r>
            <a:endParaRPr lang="en-US" sz="17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48AB69DF-2DFE-2392-56E0-2B8A756FF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257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576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51390" y="2094786"/>
            <a:ext cx="337871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 err="1">
                <a:solidFill>
                  <a:srgbClr val="403CC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개발</a:t>
            </a:r>
            <a:r>
              <a:rPr lang="en-US" sz="4450" b="1" dirty="0">
                <a:solidFill>
                  <a:srgbClr val="403CC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4450" b="1" dirty="0" err="1">
                <a:solidFill>
                  <a:srgbClr val="403CC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완성도</a:t>
            </a:r>
            <a:endParaRPr lang="en-US" sz="445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1390" y="3143726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51390" y="39375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디자인</a:t>
            </a:r>
            <a:r>
              <a:rPr lang="en-US" sz="2200" b="1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70%</a:t>
            </a:r>
            <a:endParaRPr lang="en-US" sz="22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4451390" y="4427934"/>
            <a:ext cx="2901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다소 미흡하지만,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지속적으로</a:t>
            </a:r>
            <a:r>
              <a:rPr 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개선 예정</a:t>
            </a:r>
            <a:endParaRPr lang="en-US" sz="17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3104" y="3143726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93104" y="39375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b="1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개발</a:t>
            </a:r>
            <a:r>
              <a:rPr lang="en-US" sz="2200" b="1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75%</a:t>
            </a:r>
          </a:p>
        </p:txBody>
      </p:sp>
      <p:sp>
        <p:nvSpPr>
          <p:cNvPr id="9" name="Text 4"/>
          <p:cNvSpPr/>
          <p:nvPr/>
        </p:nvSpPr>
        <p:spPr>
          <a:xfrm>
            <a:off x="7693104" y="4427934"/>
            <a:ext cx="29016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기능 구현은 완료,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버그</a:t>
            </a:r>
            <a:r>
              <a:rPr 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수정 및 기능 추가 계획</a:t>
            </a:r>
            <a:endParaRPr lang="en-US" sz="17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4938" y="3143726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934938" y="39375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b="1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완성도</a:t>
            </a:r>
            <a:r>
              <a:rPr lang="en-US" sz="2200" b="1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70%</a:t>
            </a:r>
          </a:p>
        </p:txBody>
      </p:sp>
      <p:sp>
        <p:nvSpPr>
          <p:cNvPr id="12" name="Text 6"/>
          <p:cNvSpPr/>
          <p:nvPr/>
        </p:nvSpPr>
        <p:spPr>
          <a:xfrm>
            <a:off x="10934938" y="4427934"/>
            <a:ext cx="29016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계획 대비 미흡,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추가</a:t>
            </a:r>
            <a:r>
              <a:rPr 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작업으로 완성도 향상 기대</a:t>
            </a:r>
            <a:endParaRPr lang="en-US" sz="17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1D9EB-3DE0-5A54-7814-7E19E9BC3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88EAD5F-61F0-E08C-4383-B29AA561C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576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6B109B1-1A59-CBC6-5F53-E95177E2F7B4}"/>
              </a:ext>
            </a:extLst>
          </p:cNvPr>
          <p:cNvSpPr/>
          <p:nvPr/>
        </p:nvSpPr>
        <p:spPr>
          <a:xfrm>
            <a:off x="4451390" y="2094786"/>
            <a:ext cx="532292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ko-KR" altLang="en-US" sz="4450" b="1">
                <a:solidFill>
                  <a:srgbClr val="403CC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잘한점</a:t>
            </a:r>
            <a:r>
              <a:rPr lang="ko-KR" altLang="en-US" sz="4450" b="1" dirty="0">
                <a:solidFill>
                  <a:srgbClr val="403CC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및 </a:t>
            </a:r>
            <a:r>
              <a:rPr lang="ko-KR" altLang="en-US" sz="4450" b="1" dirty="0" err="1">
                <a:solidFill>
                  <a:srgbClr val="403CC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못한점</a:t>
            </a:r>
            <a:endParaRPr lang="en-US" sz="445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ECC170B-219F-B561-E0D9-63E688C8F2BE}"/>
              </a:ext>
            </a:extLst>
          </p:cNvPr>
          <p:cNvSpPr/>
          <p:nvPr/>
        </p:nvSpPr>
        <p:spPr>
          <a:xfrm>
            <a:off x="4451390" y="30076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ko-KR" altLang="en-US" sz="2200" b="1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잘한점</a:t>
            </a:r>
            <a:endParaRPr lang="en-US" sz="22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E40C3984-973C-5B67-B5BC-9EC2CED3E42A}"/>
              </a:ext>
            </a:extLst>
          </p:cNvPr>
          <p:cNvSpPr/>
          <p:nvPr/>
        </p:nvSpPr>
        <p:spPr>
          <a:xfrm>
            <a:off x="4451390" y="3498056"/>
            <a:ext cx="8163779" cy="1165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ko-KR" altLang="en-US" sz="1750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팀원들과의</a:t>
            </a:r>
            <a:r>
              <a:rPr lang="ko-KR" alt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협력</a:t>
            </a:r>
            <a:endParaRPr lang="en-US" altLang="ko-KR" sz="1750" dirty="0">
              <a:solidFill>
                <a:srgbClr val="49495A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ko-KR" alt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문제를 포기하지 않고 끝까지 해결함</a:t>
            </a:r>
            <a:endParaRPr lang="en-US" altLang="ko-KR" sz="1750" dirty="0">
              <a:solidFill>
                <a:srgbClr val="49495A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Api </a:t>
            </a:r>
            <a:r>
              <a:rPr lang="ko-KR" alt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사용</a:t>
            </a:r>
            <a:endParaRPr lang="en-US" sz="17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DD819598-B737-92C5-02BC-12DCA4EFD5B7}"/>
              </a:ext>
            </a:extLst>
          </p:cNvPr>
          <p:cNvSpPr/>
          <p:nvPr/>
        </p:nvSpPr>
        <p:spPr>
          <a:xfrm>
            <a:off x="4451390" y="47994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ko-KR" altLang="en-US" sz="2200" b="1" dirty="0" err="1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아쉬운점</a:t>
            </a:r>
            <a:endParaRPr lang="en-US" sz="2200" b="1" dirty="0">
              <a:solidFill>
                <a:srgbClr val="49495A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B203EE82-0C53-8AE1-3213-ED529CFF7D8A}"/>
              </a:ext>
            </a:extLst>
          </p:cNvPr>
          <p:cNvSpPr/>
          <p:nvPr/>
        </p:nvSpPr>
        <p:spPr>
          <a:xfrm>
            <a:off x="4451390" y="5289827"/>
            <a:ext cx="8394598" cy="1945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ko-KR" alt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완벽하다고 하기에는 아쉬운 버그들</a:t>
            </a:r>
            <a:endParaRPr lang="en-US" altLang="ko-KR" sz="1750" dirty="0">
              <a:solidFill>
                <a:srgbClr val="49495A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ko-KR" altLang="en-US" sz="17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계획 중에 있었지만 구현하지 못한 기능들</a:t>
            </a:r>
            <a:endParaRPr lang="en-US" altLang="ko-KR" sz="1750" dirty="0">
              <a:solidFill>
                <a:srgbClr val="49495A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69902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81409-CD8F-4BBD-0DB3-B713943A1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A843C82C-2E95-2DC8-D693-6CA1B4EB7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576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FB6AA40-87BE-2E20-770F-B1B97370515C}"/>
              </a:ext>
            </a:extLst>
          </p:cNvPr>
          <p:cNvSpPr/>
          <p:nvPr/>
        </p:nvSpPr>
        <p:spPr>
          <a:xfrm>
            <a:off x="4451390" y="2094786"/>
            <a:ext cx="586716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ko-KR" altLang="en-US" sz="4450" b="1" dirty="0">
                <a:solidFill>
                  <a:srgbClr val="403CCF"/>
                </a:solidFill>
                <a:latin typeface="Open Sans" panose="020B0606030504020204" pitchFamily="34" charset="0"/>
                <a:ea typeface="나눔스퀘어 네오 ExtraBold" panose="00000900000000000000" pitchFamily="2" charset="-127"/>
                <a:cs typeface="Open Sans" panose="020B0606030504020204" pitchFamily="34" charset="0"/>
              </a:rPr>
              <a:t>종합 평가 및 소감</a:t>
            </a:r>
            <a:endParaRPr lang="en-US" sz="4450" b="1" dirty="0">
              <a:solidFill>
                <a:srgbClr val="403CC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DACF231F-2C3A-793F-DA3D-DCB338B7C2A8}"/>
              </a:ext>
            </a:extLst>
          </p:cNvPr>
          <p:cNvSpPr/>
          <p:nvPr/>
        </p:nvSpPr>
        <p:spPr>
          <a:xfrm>
            <a:off x="7693104" y="4427934"/>
            <a:ext cx="29016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Noto Sans" panose="020B0502040204020203" pitchFamily="34" charset="0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1293ACDF-F997-E895-8A7F-DA624B1E4E5F}"/>
              </a:ext>
            </a:extLst>
          </p:cNvPr>
          <p:cNvSpPr/>
          <p:nvPr/>
        </p:nvSpPr>
        <p:spPr>
          <a:xfrm>
            <a:off x="10934938" y="4427934"/>
            <a:ext cx="29016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Noto Sans" panose="020B0502040204020203" pitchFamily="34" charset="0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86353817-0ECD-5081-2132-93ABFA25BDFA}"/>
              </a:ext>
            </a:extLst>
          </p:cNvPr>
          <p:cNvSpPr/>
          <p:nvPr/>
        </p:nvSpPr>
        <p:spPr>
          <a:xfrm>
            <a:off x="4345758" y="3102429"/>
            <a:ext cx="9457574" cy="4010297"/>
          </a:xfrm>
          <a:prstGeom prst="rect">
            <a:avLst/>
          </a:prstGeom>
          <a:solidFill>
            <a:srgbClr val="B4B8FF">
              <a:alpha val="50196"/>
            </a:srgbClr>
          </a:solidFill>
          <a:ln/>
        </p:spPr>
        <p:txBody>
          <a:bodyPr wrap="square" lIns="0" tIns="0" rIns="0" bIns="0" rtlCol="0" anchor="t"/>
          <a:lstStyle/>
          <a:p>
            <a:pPr lvl="1">
              <a:lnSpc>
                <a:spcPts val="2850"/>
              </a:lnSpc>
            </a:pPr>
            <a:r>
              <a:rPr lang="en-US" sz="1750" dirty="0">
                <a:solidFill>
                  <a:srgbClr val="49495A"/>
                </a:solidFill>
                <a:latin typeface="돋움" panose="020B0600000101010101" pitchFamily="50" charset="-127"/>
                <a:ea typeface="돋움" panose="020B0600000101010101" pitchFamily="50" charset="-127"/>
                <a:cs typeface="Open Sans" panose="020B0606030504020204" pitchFamily="34" charset="0"/>
              </a:rPr>
              <a:t>2</a:t>
            </a:r>
            <a:r>
              <a:rPr lang="ko-KR" altLang="en-US" sz="1750" dirty="0">
                <a:solidFill>
                  <a:srgbClr val="49495A"/>
                </a:solidFill>
                <a:latin typeface="Open Sans" panose="020B0606030504020204" pitchFamily="34" charset="0"/>
                <a:ea typeface="돋움" panose="020B0600000101010101" pitchFamily="50" charset="-127"/>
                <a:cs typeface="Open Sans" panose="020B0606030504020204" pitchFamily="34" charset="0"/>
              </a:rPr>
              <a:t>달이란 시간</a:t>
            </a:r>
            <a:r>
              <a:rPr lang="en-US" altLang="ko-KR" sz="1750" dirty="0">
                <a:solidFill>
                  <a:srgbClr val="49495A"/>
                </a:solidFill>
                <a:latin typeface="돋움" panose="020B0600000101010101" pitchFamily="50" charset="-127"/>
                <a:ea typeface="돋움" panose="020B0600000101010101" pitchFamily="50" charset="-127"/>
                <a:cs typeface="Open Sans" panose="020B0606030504020204" pitchFamily="34" charset="0"/>
              </a:rPr>
              <a:t>, </a:t>
            </a:r>
            <a:r>
              <a:rPr lang="ko-KR" altLang="en-US" sz="1750" dirty="0">
                <a:solidFill>
                  <a:srgbClr val="49495A"/>
                </a:solidFill>
                <a:latin typeface="Open Sans" panose="020B0606030504020204" pitchFamily="34" charset="0"/>
                <a:ea typeface="돋움" panose="020B0600000101010101" pitchFamily="50" charset="-127"/>
                <a:cs typeface="Open Sans" panose="020B0606030504020204" pitchFamily="34" charset="0"/>
              </a:rPr>
              <a:t>짧다면 짧고 길다면 긴 시간이었습니다</a:t>
            </a:r>
            <a:r>
              <a:rPr lang="en-US" altLang="ko-KR" sz="1750" dirty="0">
                <a:solidFill>
                  <a:srgbClr val="49495A"/>
                </a:solidFill>
                <a:latin typeface="돋움" panose="020B0600000101010101" pitchFamily="50" charset="-127"/>
                <a:ea typeface="돋움" panose="020B0600000101010101" pitchFamily="50" charset="-127"/>
                <a:cs typeface="Open Sans" panose="020B0606030504020204" pitchFamily="34" charset="0"/>
              </a:rPr>
              <a:t>.</a:t>
            </a:r>
          </a:p>
          <a:p>
            <a:pPr lvl="1">
              <a:lnSpc>
                <a:spcPts val="2850"/>
              </a:lnSpc>
            </a:pPr>
            <a:r>
              <a:rPr lang="en-US" altLang="ko-KR" sz="1750" dirty="0">
                <a:solidFill>
                  <a:srgbClr val="49495A"/>
                </a:solidFill>
                <a:latin typeface="돋움" panose="020B0600000101010101" pitchFamily="50" charset="-127"/>
                <a:ea typeface="돋움" panose="020B0600000101010101" pitchFamily="50" charset="-127"/>
                <a:cs typeface="Open Sans" panose="020B0606030504020204" pitchFamily="34" charset="0"/>
              </a:rPr>
              <a:t>	</a:t>
            </a:r>
          </a:p>
          <a:p>
            <a:pPr lvl="1">
              <a:lnSpc>
                <a:spcPts val="2850"/>
              </a:lnSpc>
            </a:pPr>
            <a:r>
              <a:rPr lang="ko-KR" altLang="en-US" sz="1750" dirty="0">
                <a:solidFill>
                  <a:srgbClr val="49495A"/>
                </a:solidFill>
                <a:latin typeface="Open Sans" panose="020B0606030504020204" pitchFamily="34" charset="0"/>
                <a:ea typeface="돋움" panose="020B0600000101010101" pitchFamily="50" charset="-127"/>
                <a:cs typeface="Open Sans" panose="020B0606030504020204" pitchFamily="34" charset="0"/>
              </a:rPr>
              <a:t>매일 아침 </a:t>
            </a:r>
            <a:r>
              <a:rPr lang="en-US" altLang="ko-KR" sz="1750" dirty="0">
                <a:solidFill>
                  <a:srgbClr val="49495A"/>
                </a:solidFill>
                <a:latin typeface="돋움" panose="020B0600000101010101" pitchFamily="50" charset="-127"/>
                <a:ea typeface="돋움" panose="020B0600000101010101" pitchFamily="50" charset="-127"/>
                <a:cs typeface="Open Sans" panose="020B0606030504020204" pitchFamily="34" charset="0"/>
              </a:rPr>
              <a:t>6</a:t>
            </a:r>
            <a:r>
              <a:rPr lang="ko-KR" altLang="en-US" sz="1750" dirty="0">
                <a:solidFill>
                  <a:srgbClr val="49495A"/>
                </a:solidFill>
                <a:latin typeface="Open Sans" panose="020B0606030504020204" pitchFamily="34" charset="0"/>
                <a:ea typeface="돋움" panose="020B0600000101010101" pitchFamily="50" charset="-127"/>
                <a:cs typeface="Open Sans" panose="020B0606030504020204" pitchFamily="34" charset="0"/>
              </a:rPr>
              <a:t>시에 집에서 나와 집에 돌아가면 거의 </a:t>
            </a:r>
            <a:r>
              <a:rPr lang="en-US" altLang="ko-KR" sz="1750" dirty="0">
                <a:solidFill>
                  <a:srgbClr val="49495A"/>
                </a:solidFill>
                <a:latin typeface="돋움" panose="020B0600000101010101" pitchFamily="50" charset="-127"/>
                <a:ea typeface="돋움" panose="020B0600000101010101" pitchFamily="50" charset="-127"/>
                <a:cs typeface="Open Sans" panose="020B0606030504020204" pitchFamily="34" charset="0"/>
              </a:rPr>
              <a:t>12</a:t>
            </a:r>
            <a:r>
              <a:rPr lang="ko-KR" altLang="en-US" sz="1750" dirty="0">
                <a:solidFill>
                  <a:srgbClr val="49495A"/>
                </a:solidFill>
                <a:latin typeface="Open Sans" panose="020B0606030504020204" pitchFamily="34" charset="0"/>
                <a:ea typeface="돋움" panose="020B0600000101010101" pitchFamily="50" charset="-127"/>
                <a:cs typeface="Open Sans" panose="020B0606030504020204" pitchFamily="34" charset="0"/>
              </a:rPr>
              <a:t>시가 다 되어 도착하는 생활을 매일 같이 반복하였지만 몸은 피곤하면서도 정말 즐거운 시간이어 짧게 나마 학교 생활을 다시 한 듯한 기분이었습니다</a:t>
            </a:r>
            <a:r>
              <a:rPr lang="en-US" altLang="ko-KR" sz="1750" dirty="0">
                <a:solidFill>
                  <a:srgbClr val="49495A"/>
                </a:solidFill>
                <a:latin typeface="돋움" panose="020B0600000101010101" pitchFamily="50" charset="-127"/>
                <a:ea typeface="돋움" panose="020B0600000101010101" pitchFamily="50" charset="-127"/>
                <a:cs typeface="Open Sans" panose="020B0606030504020204" pitchFamily="34" charset="0"/>
              </a:rPr>
              <a:t>. </a:t>
            </a:r>
          </a:p>
          <a:p>
            <a:pPr lvl="1">
              <a:lnSpc>
                <a:spcPts val="2850"/>
              </a:lnSpc>
            </a:pPr>
            <a:endParaRPr lang="en-US" altLang="ko-KR" sz="1750" dirty="0">
              <a:solidFill>
                <a:srgbClr val="49495A"/>
              </a:solidFill>
              <a:latin typeface="돋움" panose="020B0600000101010101" pitchFamily="50" charset="-127"/>
              <a:ea typeface="돋움" panose="020B0600000101010101" pitchFamily="50" charset="-127"/>
              <a:cs typeface="Open Sans" panose="020B0606030504020204" pitchFamily="34" charset="0"/>
            </a:endParaRPr>
          </a:p>
          <a:p>
            <a:pPr lvl="1">
              <a:lnSpc>
                <a:spcPts val="2850"/>
              </a:lnSpc>
            </a:pPr>
            <a:r>
              <a:rPr lang="ko-KR" altLang="en-US" sz="1750" dirty="0">
                <a:solidFill>
                  <a:srgbClr val="49495A"/>
                </a:solidFill>
                <a:latin typeface="Open Sans" panose="020B0606030504020204" pitchFamily="34" charset="0"/>
                <a:ea typeface="돋움" panose="020B0600000101010101" pitchFamily="50" charset="-127"/>
                <a:cs typeface="Open Sans" panose="020B0606030504020204" pitchFamily="34" charset="0"/>
              </a:rPr>
              <a:t>이 프로그램에 참여하게 되며 많은 소중한 사람들을 알게 되었고 저는 코딩 문제와 같이 문제가 생기면 혼자 풀어나가는 경향이 있었는데 이번 기회를 통해 다른 사람들과 함께 문제를 풀어 나가는 것이 더 효과적이고 빠르게 해결하는 방법이 될 수 있다는 것을 </a:t>
            </a:r>
            <a:r>
              <a:rPr lang="ko-KR" altLang="en-US" sz="1750" dirty="0" err="1">
                <a:solidFill>
                  <a:srgbClr val="49495A"/>
                </a:solidFill>
                <a:latin typeface="Open Sans" panose="020B0606030504020204" pitchFamily="34" charset="0"/>
                <a:ea typeface="돋움" panose="020B0600000101010101" pitchFamily="50" charset="-127"/>
                <a:cs typeface="Open Sans" panose="020B0606030504020204" pitchFamily="34" charset="0"/>
              </a:rPr>
              <a:t>깨달았습니다</a:t>
            </a:r>
            <a:r>
              <a:rPr lang="en-US" altLang="ko-KR" sz="1750" dirty="0">
                <a:solidFill>
                  <a:srgbClr val="49495A"/>
                </a:solidFill>
                <a:latin typeface="돋움" panose="020B0600000101010101" pitchFamily="50" charset="-127"/>
                <a:ea typeface="돋움" panose="020B0600000101010101" pitchFamily="50" charset="-127"/>
                <a:cs typeface="Open Sans" panose="020B0606030504020204" pitchFamily="34" charset="0"/>
              </a:rPr>
              <a:t>. </a:t>
            </a:r>
            <a:r>
              <a:rPr lang="ko-KR" altLang="en-US" sz="1750" dirty="0">
                <a:solidFill>
                  <a:srgbClr val="49495A"/>
                </a:solidFill>
                <a:latin typeface="Open Sans" panose="020B0606030504020204" pitchFamily="34" charset="0"/>
                <a:ea typeface="돋움" panose="020B0600000101010101" pitchFamily="50" charset="-127"/>
                <a:cs typeface="Open Sans" panose="020B0606030504020204" pitchFamily="34" charset="0"/>
              </a:rPr>
              <a:t>저를 한층 성장하게 </a:t>
            </a:r>
            <a:r>
              <a:rPr lang="ko-KR" altLang="en-US" sz="1750" dirty="0" err="1">
                <a:solidFill>
                  <a:srgbClr val="49495A"/>
                </a:solidFill>
                <a:latin typeface="Open Sans" panose="020B0606030504020204" pitchFamily="34" charset="0"/>
                <a:ea typeface="돋움" panose="020B0600000101010101" pitchFamily="50" charset="-127"/>
                <a:cs typeface="Open Sans" panose="020B0606030504020204" pitchFamily="34" charset="0"/>
              </a:rPr>
              <a:t>도와주신</a:t>
            </a:r>
            <a:r>
              <a:rPr lang="ko-KR" altLang="en-US" sz="1750" dirty="0">
                <a:solidFill>
                  <a:srgbClr val="49495A"/>
                </a:solidFill>
                <a:latin typeface="Open Sans" panose="020B0606030504020204" pitchFamily="34" charset="0"/>
                <a:ea typeface="돋움" panose="020B0600000101010101" pitchFamily="50" charset="-127"/>
                <a:cs typeface="Open Sans" panose="020B0606030504020204" pitchFamily="34" charset="0"/>
              </a:rPr>
              <a:t> 많은 분들에게 감사드립니다</a:t>
            </a:r>
            <a:r>
              <a:rPr lang="en-US" altLang="ko-KR" sz="1750" dirty="0">
                <a:solidFill>
                  <a:srgbClr val="49495A"/>
                </a:solidFill>
                <a:latin typeface="돋움" panose="020B0600000101010101" pitchFamily="50" charset="-127"/>
                <a:ea typeface="돋움" panose="020B0600000101010101" pitchFamily="50" charset="-127"/>
                <a:cs typeface="Open Sans" panose="020B0606030504020204" pitchFamily="34" charset="0"/>
              </a:rPr>
              <a:t>.</a:t>
            </a:r>
            <a:endParaRPr lang="en-US" sz="1750" dirty="0">
              <a:latin typeface="돋움" panose="020B0600000101010101" pitchFamily="50" charset="-127"/>
              <a:ea typeface="돋움" panose="020B0600000101010101" pitchFamily="50" charset="-127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9120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0887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C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Q&amp;A</a:t>
            </a:r>
            <a:endParaRPr lang="en-US" sz="445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0995A1-5E91-487F-7F11-0C0610FFD583}"/>
              </a:ext>
            </a:extLst>
          </p:cNvPr>
          <p:cNvSpPr txBox="1"/>
          <p:nvPr/>
        </p:nvSpPr>
        <p:spPr>
          <a:xfrm>
            <a:off x="793790" y="4415246"/>
            <a:ext cx="7795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Open Sans" panose="020B0606030504020204" pitchFamily="34" charset="0"/>
                <a:cs typeface="Open Sans" panose="020B0606030504020204" pitchFamily="34" charset="0"/>
              </a:rPr>
              <a:t>듣다가 궁금한 점이 있으셨다면 질문해 주세요</a:t>
            </a:r>
            <a:r>
              <a:rPr lang="en-US" altLang="ko-KR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!</a:t>
            </a:r>
            <a:endParaRPr lang="ko-KR" altLang="en-US" dirty="0"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035CE8-A38E-2480-C903-78FD9C3C6813}"/>
              </a:ext>
            </a:extLst>
          </p:cNvPr>
          <p:cNvSpPr txBox="1"/>
          <p:nvPr/>
        </p:nvSpPr>
        <p:spPr>
          <a:xfrm>
            <a:off x="0" y="3337664"/>
            <a:ext cx="14630400" cy="777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50" dirty="0">
                <a:solidFill>
                  <a:srgbClr val="403CCF"/>
                </a:solidFill>
                <a:latin typeface="Libre Baskerville" pitchFamily="34" charset="0"/>
              </a:rPr>
              <a:t>감사합니다！</a:t>
            </a:r>
          </a:p>
        </p:txBody>
      </p:sp>
    </p:spTree>
    <p:extLst>
      <p:ext uri="{BB962C8B-B14F-4D97-AF65-F5344CB8AC3E}">
        <p14:creationId xmlns:p14="http://schemas.microsoft.com/office/powerpoint/2010/main" val="1199883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1216</Words>
  <Application>Microsoft Office PowerPoint</Application>
  <PresentationFormat>사용자 지정</PresentationFormat>
  <Paragraphs>199</Paragraphs>
  <Slides>20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7" baseType="lpstr">
      <vt:lpstr>Open Sans</vt:lpstr>
      <vt:lpstr>Arial</vt:lpstr>
      <vt:lpstr>돋움</vt:lpstr>
      <vt:lpstr>Libre Baskerville</vt:lpstr>
      <vt:lpstr>나눔스퀘어 네오 ExtraBold</vt:lpstr>
      <vt:lpstr>Noto Sans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태훈 김</cp:lastModifiedBy>
  <cp:revision>43</cp:revision>
  <dcterms:created xsi:type="dcterms:W3CDTF">2025-02-25T05:24:45Z</dcterms:created>
  <dcterms:modified xsi:type="dcterms:W3CDTF">2025-02-26T11:17:31Z</dcterms:modified>
</cp:coreProperties>
</file>